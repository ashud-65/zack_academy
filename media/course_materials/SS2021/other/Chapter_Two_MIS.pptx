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36"/>
  </p:notesMasterIdLst>
  <p:sldIdLst>
    <p:sldId id="290" r:id="rId2"/>
    <p:sldId id="257" r:id="rId3"/>
    <p:sldId id="258" r:id="rId4"/>
    <p:sldId id="279" r:id="rId5"/>
    <p:sldId id="259" r:id="rId6"/>
    <p:sldId id="260" r:id="rId7"/>
    <p:sldId id="285" r:id="rId8"/>
    <p:sldId id="273" r:id="rId9"/>
    <p:sldId id="286" r:id="rId10"/>
    <p:sldId id="261" r:id="rId11"/>
    <p:sldId id="287" r:id="rId12"/>
    <p:sldId id="262" r:id="rId13"/>
    <p:sldId id="274" r:id="rId14"/>
    <p:sldId id="280" r:id="rId15"/>
    <p:sldId id="263" r:id="rId16"/>
    <p:sldId id="275" r:id="rId17"/>
    <p:sldId id="264" r:id="rId18"/>
    <p:sldId id="265" r:id="rId19"/>
    <p:sldId id="281" r:id="rId20"/>
    <p:sldId id="266" r:id="rId21"/>
    <p:sldId id="276" r:id="rId22"/>
    <p:sldId id="267" r:id="rId23"/>
    <p:sldId id="268" r:id="rId24"/>
    <p:sldId id="282" r:id="rId25"/>
    <p:sldId id="277" r:id="rId26"/>
    <p:sldId id="288" r:id="rId27"/>
    <p:sldId id="269" r:id="rId28"/>
    <p:sldId id="284" r:id="rId29"/>
    <p:sldId id="270" r:id="rId30"/>
    <p:sldId id="271" r:id="rId31"/>
    <p:sldId id="272" r:id="rId32"/>
    <p:sldId id="289" r:id="rId33"/>
    <p:sldId id="278" r:id="rId34"/>
    <p:sldId id="28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6" d="100"/>
          <a:sy n="76" d="100"/>
        </p:scale>
        <p:origin x="102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088B4A-69A8-4C93-BDCC-34E31AE88032}" type="datetimeFigureOut">
              <a:rPr lang="en-US" smtClean="0"/>
              <a:t>2/25/2026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0588A-B4C9-4107-A015-414273FC2EC7}" type="slidenum">
              <a:rPr lang="en-US" smtClean="0"/>
              <a:t>‹#›</a:t>
            </a:fld>
            <a:endParaRPr lang="en-US"/>
          </a:p>
        </p:txBody>
      </p:sp>
    </p:spTree>
    <p:extLst>
      <p:ext uri="{BB962C8B-B14F-4D97-AF65-F5344CB8AC3E}">
        <p14:creationId xmlns:p14="http://schemas.microsoft.com/office/powerpoint/2010/main" val="3140011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341C754A-CE4D-461E-8FA7-1FBEEF7016B2}" type="datetime1">
              <a:rPr lang="en-US" smtClean="0"/>
              <a:t>2/25/2026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B7CBDEE6-AD54-4DB7-8F93-7DE5909EBAB5}"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2787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D948B5-848C-4452-BF0D-FAF1D5F7D529}"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spTree>
    <p:extLst>
      <p:ext uri="{BB962C8B-B14F-4D97-AF65-F5344CB8AC3E}">
        <p14:creationId xmlns:p14="http://schemas.microsoft.com/office/powerpoint/2010/main" val="327158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6F45CD-15AA-402D-A118-099C32F422D0}"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9268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591199-F552-45CD-AC7F-F82AE58BC6F3}" type="datetime1">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CBDEE6-AD54-4DB7-8F93-7DE5909EBAB5}" type="slidenum">
              <a:rPr lang="en-US" smtClean="0"/>
              <a:t>‹#›</a:t>
            </a:fld>
            <a:endParaRPr lang="en-US"/>
          </a:p>
        </p:txBody>
      </p:sp>
    </p:spTree>
    <p:extLst>
      <p:ext uri="{BB962C8B-B14F-4D97-AF65-F5344CB8AC3E}">
        <p14:creationId xmlns:p14="http://schemas.microsoft.com/office/powerpoint/2010/main" val="2810280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F7077-51D4-4F0F-A75B-079B4EAB7215}" type="datetime1">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CBDEE6-AD54-4DB7-8F93-7DE5909EBAB5}"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2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B74AC0-2687-4A80-8CDE-3E9B28E2130F}" type="datetime1">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CBDEE6-AD54-4DB7-8F93-7DE5909EBAB5}"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740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83B7B-6D37-47DB-8148-D6075B5914A1}" type="datetime1">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CBDEE6-AD54-4DB7-8F93-7DE5909EBAB5}" type="slidenum">
              <a:rPr lang="en-US" smtClean="0"/>
              <a:t>‹#›</a:t>
            </a:fld>
            <a:endParaRPr lang="en-US"/>
          </a:p>
        </p:txBody>
      </p:sp>
    </p:spTree>
    <p:extLst>
      <p:ext uri="{BB962C8B-B14F-4D97-AF65-F5344CB8AC3E}">
        <p14:creationId xmlns:p14="http://schemas.microsoft.com/office/powerpoint/2010/main" val="194988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F94CFB-AEF1-49D5-979F-502B5A2B7045}" type="datetime1">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CBDEE6-AD54-4DB7-8F93-7DE5909EBAB5}"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6939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C339F3-50DE-47E8-8D1E-FE3DA548E314}" type="datetime1">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CBDEE6-AD54-4DB7-8F93-7DE5909EBAB5}" type="slidenum">
              <a:rPr lang="en-US" smtClean="0"/>
              <a:t>‹#›</a:t>
            </a:fld>
            <a:endParaRPr lang="en-US"/>
          </a:p>
        </p:txBody>
      </p:sp>
    </p:spTree>
    <p:extLst>
      <p:ext uri="{BB962C8B-B14F-4D97-AF65-F5344CB8AC3E}">
        <p14:creationId xmlns:p14="http://schemas.microsoft.com/office/powerpoint/2010/main" val="3195669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E54AB1-046A-4A12-8AEA-8E296A343DDB}" type="datetime1">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CBDEE6-AD54-4DB7-8F93-7DE5909EBAB5}" type="slidenum">
              <a:rPr lang="en-US" smtClean="0"/>
              <a:t>‹#›</a:t>
            </a:fld>
            <a:endParaRPr lang="en-US"/>
          </a:p>
        </p:txBody>
      </p:sp>
    </p:spTree>
    <p:extLst>
      <p:ext uri="{BB962C8B-B14F-4D97-AF65-F5344CB8AC3E}">
        <p14:creationId xmlns:p14="http://schemas.microsoft.com/office/powerpoint/2010/main" val="1060597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36216A-BA3A-468C-99EB-92B78FB0D320}"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7294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FBA9AC-FD3E-4CEE-A299-2979CC0507E7}"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8603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F8C1BC-07A4-4DC8-98F6-136C70950F1E}"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spTree>
    <p:extLst>
      <p:ext uri="{BB962C8B-B14F-4D97-AF65-F5344CB8AC3E}">
        <p14:creationId xmlns:p14="http://schemas.microsoft.com/office/powerpoint/2010/main" val="2225271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8E49A2-1DD4-49B1-A4BB-79331B2981E2}"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7073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F85DFC-BCB5-47AD-A7F4-E4BDA49ED6F9}"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0299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8827E8-2EC7-4016-B160-26993440642E}"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84816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5DB091-2CD0-46C9-8A00-D8EE65BE93ED}" type="datetime1">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CBDEE6-AD54-4DB7-8F93-7DE5909EBAB5}"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1714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D2E4B4-137E-46D0-ACE2-B606B615E1B7}" type="datetime1">
              <a:rPr lang="en-US" smtClean="0"/>
              <a:t>2/25/2026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CBDEE6-AD54-4DB7-8F93-7DE5909EBAB5}" type="slidenum">
              <a:rPr lang="en-US" smtClean="0"/>
              <a:t>‹#›</a:t>
            </a:fld>
            <a:endParaRPr lang="en-US"/>
          </a:p>
        </p:txBody>
      </p:sp>
    </p:spTree>
    <p:extLst>
      <p:ext uri="{BB962C8B-B14F-4D97-AF65-F5344CB8AC3E}">
        <p14:creationId xmlns:p14="http://schemas.microsoft.com/office/powerpoint/2010/main" val="362791132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hf hdr="0" ftr="0" dt="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571F-3BAD-957A-F53C-9BD9F7A9F641}"/>
              </a:ext>
            </a:extLst>
          </p:cNvPr>
          <p:cNvSpPr>
            <a:spLocks noGrp="1"/>
          </p:cNvSpPr>
          <p:nvPr>
            <p:ph type="title"/>
          </p:nvPr>
        </p:nvSpPr>
        <p:spPr>
          <a:xfrm>
            <a:off x="916807" y="1292841"/>
            <a:ext cx="6798734" cy="1303867"/>
          </a:xfrm>
        </p:spPr>
        <p:txBody>
          <a:bodyPr>
            <a:normAutofit/>
          </a:bodyPr>
          <a:lstStyle/>
          <a:p>
            <a:r>
              <a:rPr lang="en-US" altLang="en-US" sz="6000" dirty="0">
                <a:solidFill>
                  <a:srgbClr val="0070C0"/>
                </a:solidFill>
              </a:rPr>
              <a:t>Chapter Two</a:t>
            </a:r>
            <a:endParaRPr lang="en-US" sz="6000" dirty="0"/>
          </a:p>
        </p:txBody>
      </p:sp>
      <p:sp>
        <p:nvSpPr>
          <p:cNvPr id="3" name="Content Placeholder 2">
            <a:extLst>
              <a:ext uri="{FF2B5EF4-FFF2-40B4-BE49-F238E27FC236}">
                <a16:creationId xmlns:a16="http://schemas.microsoft.com/office/drawing/2014/main" id="{3A9CBA87-810F-CE31-AE64-CDAFABF49B5C}"/>
              </a:ext>
            </a:extLst>
          </p:cNvPr>
          <p:cNvSpPr>
            <a:spLocks noGrp="1"/>
          </p:cNvSpPr>
          <p:nvPr>
            <p:ph idx="1"/>
          </p:nvPr>
        </p:nvSpPr>
        <p:spPr>
          <a:xfrm>
            <a:off x="662730" y="3035420"/>
            <a:ext cx="7818539" cy="3444997"/>
          </a:xfrm>
        </p:spPr>
        <p:txBody>
          <a:bodyPr/>
          <a:lstStyle/>
          <a:p>
            <a:pPr marL="0" indent="0" algn="ctr">
              <a:buNone/>
            </a:pPr>
            <a:r>
              <a:rPr lang="en-US" altLang="en-US" sz="4800" dirty="0">
                <a:solidFill>
                  <a:srgbClr val="0070C0"/>
                </a:solidFill>
              </a:rPr>
              <a:t>Ethical and Social Issues  In Information Systems</a:t>
            </a:r>
            <a:endParaRPr lang="en-US" altLang="en-US" sz="4800" dirty="0"/>
          </a:p>
          <a:p>
            <a:endParaRPr lang="en-US" dirty="0"/>
          </a:p>
        </p:txBody>
      </p:sp>
      <p:sp>
        <p:nvSpPr>
          <p:cNvPr id="4" name="Slide Number Placeholder 3">
            <a:extLst>
              <a:ext uri="{FF2B5EF4-FFF2-40B4-BE49-F238E27FC236}">
                <a16:creationId xmlns:a16="http://schemas.microsoft.com/office/drawing/2014/main" id="{24F92DE1-3D73-0A83-CFD9-2B2A10E9F6D0}"/>
              </a:ext>
            </a:extLst>
          </p:cNvPr>
          <p:cNvSpPr>
            <a:spLocks noGrp="1"/>
          </p:cNvSpPr>
          <p:nvPr>
            <p:ph type="sldNum" sz="quarter" idx="12"/>
          </p:nvPr>
        </p:nvSpPr>
        <p:spPr/>
        <p:txBody>
          <a:bodyPr/>
          <a:lstStyle/>
          <a:p>
            <a:fld id="{B7CBDEE6-AD54-4DB7-8F93-7DE5909EBAB5}" type="slidenum">
              <a:rPr lang="en-US" smtClean="0"/>
              <a:t>1</a:t>
            </a:fld>
            <a:endParaRPr lang="en-US"/>
          </a:p>
        </p:txBody>
      </p:sp>
    </p:spTree>
    <p:extLst>
      <p:ext uri="{BB962C8B-B14F-4D97-AF65-F5344CB8AC3E}">
        <p14:creationId xmlns:p14="http://schemas.microsoft.com/office/powerpoint/2010/main" val="233728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824" y="1828890"/>
            <a:ext cx="7200897" cy="977900"/>
          </a:xfrm>
        </p:spPr>
        <p:txBody>
          <a:bodyPr>
            <a:normAutofit fontScale="90000"/>
          </a:bodyPr>
          <a:lstStyle/>
          <a:p>
            <a:r>
              <a:rPr lang="en-US" dirty="0">
                <a:solidFill>
                  <a:srgbClr val="C00000"/>
                </a:solidFill>
              </a:rPr>
              <a:t>Ethics </a:t>
            </a:r>
            <a:br>
              <a:rPr lang="en-US" dirty="0">
                <a:solidFill>
                  <a:srgbClr val="C00000"/>
                </a:solidFill>
              </a:rPr>
            </a:br>
            <a:endParaRPr lang="en-US" dirty="0"/>
          </a:p>
        </p:txBody>
      </p:sp>
      <p:sp>
        <p:nvSpPr>
          <p:cNvPr id="3" name="Content Placeholder 2"/>
          <p:cNvSpPr>
            <a:spLocks noGrp="1"/>
          </p:cNvSpPr>
          <p:nvPr>
            <p:ph idx="1"/>
          </p:nvPr>
        </p:nvSpPr>
        <p:spPr>
          <a:xfrm>
            <a:off x="623824" y="2420870"/>
            <a:ext cx="7811838" cy="3819063"/>
          </a:xfrm>
        </p:spPr>
        <p:txBody>
          <a:bodyPr>
            <a:normAutofit/>
          </a:bodyPr>
          <a:lstStyle/>
          <a:p>
            <a:pPr algn="just">
              <a:lnSpc>
                <a:spcPct val="120000"/>
              </a:lnSpc>
              <a:defRPr/>
            </a:pPr>
            <a:r>
              <a:rPr lang="en-US" dirty="0">
                <a:solidFill>
                  <a:srgbClr val="0070C0"/>
                </a:solidFill>
              </a:rPr>
              <a:t>It is Principles of </a:t>
            </a:r>
            <a:r>
              <a:rPr lang="en-US" dirty="0">
                <a:solidFill>
                  <a:srgbClr val="FF0000"/>
                </a:solidFill>
              </a:rPr>
              <a:t>right </a:t>
            </a:r>
            <a:r>
              <a:rPr lang="en-US" dirty="0">
                <a:solidFill>
                  <a:srgbClr val="0070C0"/>
                </a:solidFill>
              </a:rPr>
              <a:t>and </a:t>
            </a:r>
            <a:r>
              <a:rPr lang="en-US" dirty="0">
                <a:solidFill>
                  <a:srgbClr val="FF0000"/>
                </a:solidFill>
              </a:rPr>
              <a:t>wrong</a:t>
            </a:r>
            <a:r>
              <a:rPr lang="en-US" dirty="0">
                <a:solidFill>
                  <a:srgbClr val="0070C0"/>
                </a:solidFill>
              </a:rPr>
              <a:t> that individuals, acting </a:t>
            </a:r>
            <a:r>
              <a:rPr lang="en-US" dirty="0">
                <a:solidFill>
                  <a:srgbClr val="FF0000"/>
                </a:solidFill>
              </a:rPr>
              <a:t>as free moral agents</a:t>
            </a:r>
            <a:r>
              <a:rPr lang="en-US" dirty="0">
                <a:solidFill>
                  <a:srgbClr val="0070C0"/>
                </a:solidFill>
              </a:rPr>
              <a:t>, use to make </a:t>
            </a:r>
            <a:r>
              <a:rPr lang="en-US" dirty="0">
                <a:solidFill>
                  <a:srgbClr val="FF0000"/>
                </a:solidFill>
              </a:rPr>
              <a:t>choices to guide </a:t>
            </a:r>
            <a:r>
              <a:rPr lang="en-US" dirty="0">
                <a:solidFill>
                  <a:srgbClr val="0070C0"/>
                </a:solidFill>
              </a:rPr>
              <a:t>their behavior.</a:t>
            </a:r>
          </a:p>
          <a:p>
            <a:pPr marL="0" lvl="1" algn="just">
              <a:lnSpc>
                <a:spcPct val="120000"/>
              </a:lnSpc>
              <a:defRPr/>
            </a:pPr>
            <a:r>
              <a:rPr lang="en-US" sz="2400" dirty="0">
                <a:solidFill>
                  <a:srgbClr val="C00000"/>
                </a:solidFill>
              </a:rPr>
              <a:t>Information systems and ethics:- </a:t>
            </a:r>
            <a:r>
              <a:rPr lang="en-US" sz="2400" dirty="0"/>
              <a:t>Information systems raise </a:t>
            </a:r>
            <a:r>
              <a:rPr lang="en-US" sz="2400" dirty="0">
                <a:solidFill>
                  <a:srgbClr val="FF0000"/>
                </a:solidFill>
              </a:rPr>
              <a:t>new ethical questions </a:t>
            </a:r>
            <a:r>
              <a:rPr lang="en-US" sz="2400" dirty="0"/>
              <a:t>because they create opportunities for:</a:t>
            </a:r>
          </a:p>
          <a:p>
            <a:pPr marL="257175" lvl="1" indent="-257175" algn="just">
              <a:lnSpc>
                <a:spcPct val="120000"/>
              </a:lnSpc>
              <a:buFont typeface="Wingdings" pitchFamily="2" charset="2"/>
              <a:buChar char="v"/>
              <a:defRPr/>
            </a:pPr>
            <a:r>
              <a:rPr lang="en-US" sz="2400" dirty="0">
                <a:solidFill>
                  <a:srgbClr val="0070C0"/>
                </a:solidFill>
              </a:rPr>
              <a:t>Intense social change, threatening existing distributions of power, money, rights, and obligations.</a:t>
            </a:r>
          </a:p>
          <a:p>
            <a:pPr marL="257175" lvl="1" indent="-257175" algn="just">
              <a:lnSpc>
                <a:spcPct val="120000"/>
              </a:lnSpc>
              <a:buFont typeface="Wingdings" pitchFamily="2" charset="2"/>
              <a:buChar char="v"/>
              <a:defRPr/>
            </a:pPr>
            <a:r>
              <a:rPr lang="en-US" sz="2400" dirty="0">
                <a:solidFill>
                  <a:srgbClr val="0070C0"/>
                </a:solidFill>
              </a:rPr>
              <a:t>New kinds of crime.</a:t>
            </a:r>
          </a:p>
          <a:p>
            <a:endParaRPr lang="en-US" dirty="0"/>
          </a:p>
        </p:txBody>
      </p:sp>
      <p:sp>
        <p:nvSpPr>
          <p:cNvPr id="4" name="Slide Number Placeholder 3"/>
          <p:cNvSpPr>
            <a:spLocks noGrp="1"/>
          </p:cNvSpPr>
          <p:nvPr>
            <p:ph type="sldNum" sz="quarter" idx="12"/>
          </p:nvPr>
        </p:nvSpPr>
        <p:spPr/>
        <p:txBody>
          <a:bodyPr/>
          <a:lstStyle/>
          <a:p>
            <a:fld id="{B7CBDEE6-AD54-4DB7-8F93-7DE5909EBAB5}" type="slidenum">
              <a:rPr lang="en-US" smtClean="0"/>
              <a:t>2</a:t>
            </a:fld>
            <a:endParaRPr lang="en-US"/>
          </a:p>
        </p:txBody>
      </p:sp>
    </p:spTree>
    <p:extLst>
      <p:ext uri="{BB962C8B-B14F-4D97-AF65-F5344CB8AC3E}">
        <p14:creationId xmlns:p14="http://schemas.microsoft.com/office/powerpoint/2010/main" val="1280733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3" y="1797049"/>
            <a:ext cx="7200897" cy="977900"/>
          </a:xfrm>
        </p:spPr>
        <p:txBody>
          <a:bodyPr>
            <a:noAutofit/>
          </a:bodyPr>
          <a:lstStyle/>
          <a:p>
            <a:r>
              <a:rPr lang="en-US" altLang="en-US" sz="2800" b="1" dirty="0">
                <a:solidFill>
                  <a:srgbClr val="0070C0"/>
                </a:solidFill>
              </a:rPr>
              <a:t>Moral dimensions of the information age</a:t>
            </a:r>
            <a:br>
              <a:rPr lang="en-US" altLang="en-US" b="1" i="1" dirty="0">
                <a:solidFill>
                  <a:srgbClr val="0070C0"/>
                </a:solidFill>
              </a:rPr>
            </a:br>
            <a:endParaRPr lang="en-US" dirty="0"/>
          </a:p>
        </p:txBody>
      </p:sp>
      <p:sp>
        <p:nvSpPr>
          <p:cNvPr id="3" name="Content Placeholder 2"/>
          <p:cNvSpPr>
            <a:spLocks noGrp="1"/>
          </p:cNvSpPr>
          <p:nvPr>
            <p:ph idx="1"/>
          </p:nvPr>
        </p:nvSpPr>
        <p:spPr>
          <a:xfrm>
            <a:off x="811369" y="2285999"/>
            <a:ext cx="7650051" cy="4063286"/>
          </a:xfrm>
        </p:spPr>
        <p:txBody>
          <a:bodyPr>
            <a:normAutofit/>
          </a:bodyPr>
          <a:lstStyle/>
          <a:p>
            <a:pPr algn="just">
              <a:lnSpc>
                <a:spcPct val="160000"/>
              </a:lnSpc>
            </a:pPr>
            <a:r>
              <a:rPr lang="en-US" sz="2600" dirty="0"/>
              <a:t>Mainly there are</a:t>
            </a:r>
            <a:r>
              <a:rPr lang="en-US" altLang="en-US" sz="2600" b="1" dirty="0">
                <a:solidFill>
                  <a:srgbClr val="0070C0"/>
                </a:solidFill>
              </a:rPr>
              <a:t> </a:t>
            </a:r>
            <a:r>
              <a:rPr lang="en-US" altLang="en-US" sz="2600" b="1" dirty="0">
                <a:solidFill>
                  <a:srgbClr val="FF0000"/>
                </a:solidFill>
              </a:rPr>
              <a:t>five </a:t>
            </a:r>
            <a:r>
              <a:rPr lang="en-US" altLang="en-US" sz="2600" dirty="0">
                <a:solidFill>
                  <a:srgbClr val="0070C0"/>
                </a:solidFill>
              </a:rPr>
              <a:t>moral dimensions of the information age.</a:t>
            </a:r>
            <a:endParaRPr lang="en-US" sz="2600" dirty="0"/>
          </a:p>
          <a:p>
            <a:pPr algn="just">
              <a:lnSpc>
                <a:spcPct val="160000"/>
              </a:lnSpc>
            </a:pPr>
            <a:r>
              <a:rPr lang="en-US" sz="2600" dirty="0"/>
              <a:t>The </a:t>
            </a:r>
            <a:r>
              <a:rPr lang="en-US" sz="2600" dirty="0">
                <a:solidFill>
                  <a:srgbClr val="FF0000"/>
                </a:solidFill>
              </a:rPr>
              <a:t>introduction</a:t>
            </a:r>
            <a:r>
              <a:rPr lang="en-US" sz="2600" dirty="0"/>
              <a:t> of new information technology has a ripple </a:t>
            </a:r>
            <a:r>
              <a:rPr lang="en-US" sz="2600" dirty="0">
                <a:solidFill>
                  <a:srgbClr val="FF0000"/>
                </a:solidFill>
              </a:rPr>
              <a:t>effect, raising new ethical, social, </a:t>
            </a:r>
            <a:r>
              <a:rPr lang="en-US" sz="2600" dirty="0"/>
              <a:t>and </a:t>
            </a:r>
            <a:r>
              <a:rPr lang="en-US" sz="2600" dirty="0">
                <a:solidFill>
                  <a:srgbClr val="FF0000"/>
                </a:solidFill>
              </a:rPr>
              <a:t>legal issues </a:t>
            </a:r>
            <a:r>
              <a:rPr lang="en-US" sz="2600" dirty="0"/>
              <a:t>that must be dealt with on the individual, social, and political levels. </a:t>
            </a:r>
          </a:p>
        </p:txBody>
      </p:sp>
      <p:sp>
        <p:nvSpPr>
          <p:cNvPr id="4" name="Slide Number Placeholder 3"/>
          <p:cNvSpPr>
            <a:spLocks noGrp="1"/>
          </p:cNvSpPr>
          <p:nvPr>
            <p:ph type="sldNum" sz="quarter" idx="12"/>
          </p:nvPr>
        </p:nvSpPr>
        <p:spPr/>
        <p:txBody>
          <a:bodyPr/>
          <a:lstStyle/>
          <a:p>
            <a:fld id="{B7CBDEE6-AD54-4DB7-8F93-7DE5909EBAB5}" type="slidenum">
              <a:rPr lang="en-US" smtClean="0"/>
              <a:t>3</a:t>
            </a:fld>
            <a:endParaRPr lang="en-US"/>
          </a:p>
        </p:txBody>
      </p:sp>
    </p:spTree>
    <p:extLst>
      <p:ext uri="{BB962C8B-B14F-4D97-AF65-F5344CB8AC3E}">
        <p14:creationId xmlns:p14="http://schemas.microsoft.com/office/powerpoint/2010/main" val="2223278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6813" y="1160867"/>
            <a:ext cx="7778840" cy="1303867"/>
          </a:xfrm>
        </p:spPr>
        <p:txBody>
          <a:bodyPr>
            <a:normAutofit fontScale="90000"/>
          </a:bodyPr>
          <a:lstStyle/>
          <a:p>
            <a:r>
              <a:rPr lang="en-US" altLang="en-US" sz="3600" b="1" dirty="0">
                <a:solidFill>
                  <a:srgbClr val="0070C0"/>
                </a:solidFill>
              </a:rPr>
              <a:t>Moral dimensions of the information age...</a:t>
            </a:r>
            <a:br>
              <a:rPr lang="en-US" altLang="en-US" b="1" i="1" dirty="0">
                <a:solidFill>
                  <a:srgbClr val="0070C0"/>
                </a:solidFill>
              </a:rPr>
            </a:br>
            <a:endParaRPr lang="en-US" dirty="0"/>
          </a:p>
        </p:txBody>
      </p:sp>
      <p:sp>
        <p:nvSpPr>
          <p:cNvPr id="3" name="Content Placeholder 2"/>
          <p:cNvSpPr>
            <a:spLocks noGrp="1"/>
          </p:cNvSpPr>
          <p:nvPr>
            <p:ph idx="1"/>
          </p:nvPr>
        </p:nvSpPr>
        <p:spPr/>
        <p:txBody>
          <a:bodyPr>
            <a:normAutofit/>
          </a:bodyPr>
          <a:lstStyle/>
          <a:p>
            <a:pPr algn="just"/>
            <a:r>
              <a:rPr lang="en-US" sz="2800" dirty="0"/>
              <a:t>These issues have </a:t>
            </a:r>
            <a:r>
              <a:rPr lang="en-US" sz="2800" dirty="0">
                <a:solidFill>
                  <a:srgbClr val="FF0000"/>
                </a:solidFill>
              </a:rPr>
              <a:t>five </a:t>
            </a:r>
            <a:r>
              <a:rPr lang="en-US" sz="2800" dirty="0"/>
              <a:t>moral dimensions:</a:t>
            </a:r>
          </a:p>
          <a:p>
            <a:pPr algn="just">
              <a:buFont typeface="Wingdings" panose="05000000000000000000" pitchFamily="2" charset="2"/>
              <a:buChar char="ü"/>
            </a:pPr>
            <a:r>
              <a:rPr lang="en-US" sz="2800" dirty="0"/>
              <a:t> information rights and obligations, </a:t>
            </a:r>
          </a:p>
          <a:p>
            <a:pPr algn="just">
              <a:buFont typeface="Wingdings" panose="05000000000000000000" pitchFamily="2" charset="2"/>
              <a:buChar char="ü"/>
            </a:pPr>
            <a:r>
              <a:rPr lang="en-US" sz="2800" dirty="0"/>
              <a:t>property rights and obligations, </a:t>
            </a:r>
          </a:p>
          <a:p>
            <a:pPr algn="just">
              <a:buFont typeface="Wingdings" panose="05000000000000000000" pitchFamily="2" charset="2"/>
              <a:buChar char="ü"/>
            </a:pPr>
            <a:r>
              <a:rPr lang="en-US" sz="2800" dirty="0"/>
              <a:t>system quality, quality of life, and</a:t>
            </a:r>
          </a:p>
          <a:p>
            <a:pPr algn="just">
              <a:buFont typeface="Wingdings" panose="05000000000000000000" pitchFamily="2" charset="2"/>
              <a:buChar char="ü"/>
            </a:pPr>
            <a:r>
              <a:rPr lang="en-US" sz="2800" dirty="0"/>
              <a:t> accountability and control.</a:t>
            </a:r>
          </a:p>
          <a:p>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4</a:t>
            </a:fld>
            <a:endParaRPr lang="en-US"/>
          </a:p>
        </p:txBody>
      </p:sp>
    </p:spTree>
    <p:extLst>
      <p:ext uri="{BB962C8B-B14F-4D97-AF65-F5344CB8AC3E}">
        <p14:creationId xmlns:p14="http://schemas.microsoft.com/office/powerpoint/2010/main" val="4113130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975" y="915337"/>
            <a:ext cx="7534139" cy="1303867"/>
          </a:xfrm>
        </p:spPr>
        <p:txBody>
          <a:bodyPr>
            <a:normAutofit/>
          </a:bodyPr>
          <a:lstStyle/>
          <a:p>
            <a:r>
              <a:rPr lang="en-US" altLang="en-US" sz="2800" b="1" dirty="0">
                <a:solidFill>
                  <a:srgbClr val="0070C0"/>
                </a:solidFill>
              </a:rPr>
              <a:t>Moral dimensions of the information age</a:t>
            </a:r>
            <a:r>
              <a:rPr lang="en-US" altLang="en-US" sz="2800" b="1" i="1" dirty="0">
                <a:solidFill>
                  <a:srgbClr val="0070C0"/>
                </a:solidFill>
              </a:rPr>
              <a:t>...</a:t>
            </a:r>
            <a:endParaRPr lang="en-US" sz="2800" dirty="0"/>
          </a:p>
        </p:txBody>
      </p:sp>
      <p:pic>
        <p:nvPicPr>
          <p:cNvPr id="4"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6713" y="2009104"/>
            <a:ext cx="6748888" cy="440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7CBDEE6-AD54-4DB7-8F93-7DE5909EBAB5}" type="slidenum">
              <a:rPr lang="en-US" smtClean="0"/>
              <a:t>5</a:t>
            </a:fld>
            <a:endParaRPr lang="en-US"/>
          </a:p>
        </p:txBody>
      </p:sp>
    </p:spTree>
    <p:extLst>
      <p:ext uri="{BB962C8B-B14F-4D97-AF65-F5344CB8AC3E}">
        <p14:creationId xmlns:p14="http://schemas.microsoft.com/office/powerpoint/2010/main" val="116954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580" y="915337"/>
            <a:ext cx="7727324" cy="1303867"/>
          </a:xfrm>
        </p:spPr>
        <p:txBody>
          <a:bodyPr>
            <a:normAutofit/>
          </a:bodyPr>
          <a:lstStyle/>
          <a:p>
            <a:r>
              <a:rPr lang="en-US" altLang="en-US" sz="3200" b="1" dirty="0">
                <a:solidFill>
                  <a:srgbClr val="0070C0"/>
                </a:solidFill>
              </a:rPr>
              <a:t>Moral dimensions of the information age</a:t>
            </a:r>
            <a:r>
              <a:rPr lang="en-US" altLang="en-US" sz="3200" b="1" i="1" dirty="0">
                <a:solidFill>
                  <a:srgbClr val="0070C0"/>
                </a:solidFill>
              </a:rPr>
              <a:t>...</a:t>
            </a:r>
            <a:endParaRPr lang="en-US" sz="3200" dirty="0"/>
          </a:p>
        </p:txBody>
      </p:sp>
      <p:sp>
        <p:nvSpPr>
          <p:cNvPr id="3" name="Content Placeholder 2"/>
          <p:cNvSpPr>
            <a:spLocks noGrp="1"/>
          </p:cNvSpPr>
          <p:nvPr>
            <p:ph idx="1"/>
          </p:nvPr>
        </p:nvSpPr>
        <p:spPr>
          <a:xfrm>
            <a:off x="582827" y="2477165"/>
            <a:ext cx="7727324" cy="4323264"/>
          </a:xfrm>
        </p:spPr>
        <p:txBody>
          <a:bodyPr>
            <a:noAutofit/>
          </a:bodyPr>
          <a:lstStyle/>
          <a:p>
            <a:pPr marL="742950" indent="-742950" algn="just">
              <a:buFont typeface="+mj-lt"/>
              <a:buAutoNum type="arabicPeriod"/>
              <a:defRPr/>
            </a:pPr>
            <a:r>
              <a:rPr lang="en-US" sz="2800" dirty="0">
                <a:solidFill>
                  <a:srgbClr val="C00000"/>
                </a:solidFill>
                <a:latin typeface="+mj-lt"/>
              </a:rPr>
              <a:t>Information rights and obligations:- </a:t>
            </a:r>
            <a:r>
              <a:rPr lang="en-US" sz="2800" dirty="0">
                <a:solidFill>
                  <a:srgbClr val="FF0000"/>
                </a:solidFill>
                <a:latin typeface="+mj-lt"/>
              </a:rPr>
              <a:t>What</a:t>
            </a:r>
            <a:r>
              <a:rPr lang="en-US" sz="2800" dirty="0">
                <a:latin typeface="+mj-lt"/>
              </a:rPr>
              <a:t> information rights do individuals and organizations have with respect to themselves? </a:t>
            </a:r>
            <a:r>
              <a:rPr lang="en-US" sz="2800" dirty="0">
                <a:solidFill>
                  <a:srgbClr val="FF0000"/>
                </a:solidFill>
                <a:latin typeface="+mj-lt"/>
              </a:rPr>
              <a:t>What</a:t>
            </a:r>
            <a:r>
              <a:rPr lang="en-US" sz="2800" dirty="0">
                <a:latin typeface="+mj-lt"/>
              </a:rPr>
              <a:t> can they </a:t>
            </a:r>
            <a:r>
              <a:rPr lang="en-US" sz="2800" dirty="0">
                <a:solidFill>
                  <a:srgbClr val="FF0000"/>
                </a:solidFill>
                <a:latin typeface="+mj-lt"/>
              </a:rPr>
              <a:t>protect</a:t>
            </a:r>
            <a:r>
              <a:rPr lang="en-US" sz="2800" dirty="0">
                <a:latin typeface="+mj-lt"/>
              </a:rPr>
              <a:t>?</a:t>
            </a:r>
          </a:p>
          <a:p>
            <a:pPr marL="0" indent="0" algn="just">
              <a:buNone/>
              <a:defRPr/>
            </a:pPr>
            <a:r>
              <a:rPr lang="en-US" sz="2800" dirty="0">
                <a:latin typeface="+mj-lt"/>
              </a:rPr>
              <a:t>e.g. an employer using software to track every key stroke or website visit of a remote employee without their consent. Does the employee have a right to privacy during work hours?</a:t>
            </a:r>
          </a:p>
          <a:p>
            <a:pPr marL="0" indent="0" algn="just">
              <a:lnSpc>
                <a:spcPct val="150000"/>
              </a:lnSpc>
              <a:buNone/>
              <a:defRPr/>
            </a:pPr>
            <a:r>
              <a:rPr lang="en-US" i="1" dirty="0">
                <a:solidFill>
                  <a:srgbClr val="C00000"/>
                </a:solidFill>
                <a:latin typeface="+mj-lt"/>
              </a:rPr>
              <a:t> </a:t>
            </a:r>
            <a:endParaRPr lang="en-US" sz="1600" dirty="0"/>
          </a:p>
        </p:txBody>
      </p:sp>
      <p:sp>
        <p:nvSpPr>
          <p:cNvPr id="4" name="Slide Number Placeholder 3"/>
          <p:cNvSpPr>
            <a:spLocks noGrp="1"/>
          </p:cNvSpPr>
          <p:nvPr>
            <p:ph type="sldNum" sz="quarter" idx="12"/>
          </p:nvPr>
        </p:nvSpPr>
        <p:spPr/>
        <p:txBody>
          <a:bodyPr/>
          <a:lstStyle/>
          <a:p>
            <a:fld id="{B7CBDEE6-AD54-4DB7-8F93-7DE5909EBAB5}" type="slidenum">
              <a:rPr lang="en-US" smtClean="0"/>
              <a:t>6</a:t>
            </a:fld>
            <a:endParaRPr lang="en-US"/>
          </a:p>
        </p:txBody>
      </p:sp>
    </p:spTree>
    <p:extLst>
      <p:ext uri="{BB962C8B-B14F-4D97-AF65-F5344CB8AC3E}">
        <p14:creationId xmlns:p14="http://schemas.microsoft.com/office/powerpoint/2010/main" val="3302552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6328-665F-30E7-1FAF-D0FE5AAD3772}"/>
              </a:ext>
            </a:extLst>
          </p:cNvPr>
          <p:cNvSpPr>
            <a:spLocks noGrp="1"/>
          </p:cNvSpPr>
          <p:nvPr>
            <p:ph type="title"/>
          </p:nvPr>
        </p:nvSpPr>
        <p:spPr>
          <a:xfrm>
            <a:off x="1268306" y="1414101"/>
            <a:ext cx="6798734" cy="1303867"/>
          </a:xfrm>
        </p:spPr>
        <p:txBody>
          <a:bodyPr>
            <a:normAutofit/>
          </a:bodyPr>
          <a:lstStyle/>
          <a:p>
            <a:r>
              <a:rPr lang="en-US" altLang="en-US" sz="2800" b="1" dirty="0">
                <a:solidFill>
                  <a:srgbClr val="0070C0"/>
                </a:solidFill>
              </a:rPr>
              <a:t>Moral dimensions of the information age</a:t>
            </a:r>
            <a:r>
              <a:rPr lang="en-US" altLang="en-US" sz="2800" b="1" i="1" dirty="0">
                <a:solidFill>
                  <a:srgbClr val="0070C0"/>
                </a:solidFill>
              </a:rPr>
              <a:t>...</a:t>
            </a:r>
            <a:endParaRPr lang="en-US" sz="2800" dirty="0"/>
          </a:p>
        </p:txBody>
      </p:sp>
      <p:sp>
        <p:nvSpPr>
          <p:cNvPr id="3" name="Content Placeholder 2">
            <a:extLst>
              <a:ext uri="{FF2B5EF4-FFF2-40B4-BE49-F238E27FC236}">
                <a16:creationId xmlns:a16="http://schemas.microsoft.com/office/drawing/2014/main" id="{3B57D47B-C537-A2CB-EC9D-745046D2658E}"/>
              </a:ext>
            </a:extLst>
          </p:cNvPr>
          <p:cNvSpPr>
            <a:spLocks noGrp="1"/>
          </p:cNvSpPr>
          <p:nvPr>
            <p:ph idx="1"/>
          </p:nvPr>
        </p:nvSpPr>
        <p:spPr>
          <a:xfrm>
            <a:off x="769004" y="2515536"/>
            <a:ext cx="7626852" cy="3444997"/>
          </a:xfrm>
        </p:spPr>
        <p:txBody>
          <a:bodyPr>
            <a:normAutofit fontScale="92500"/>
          </a:bodyPr>
          <a:lstStyle/>
          <a:p>
            <a:pPr marL="0" indent="0" algn="just">
              <a:buNone/>
            </a:pPr>
            <a:r>
              <a:rPr lang="en-US" sz="2800" dirty="0">
                <a:solidFill>
                  <a:srgbClr val="C00000"/>
                </a:solidFill>
              </a:rPr>
              <a:t> 2</a:t>
            </a:r>
            <a:r>
              <a:rPr lang="en-US" sz="2800" dirty="0"/>
              <a:t>.  </a:t>
            </a:r>
            <a:r>
              <a:rPr lang="en-US" sz="2800" dirty="0">
                <a:solidFill>
                  <a:srgbClr val="C00000"/>
                </a:solidFill>
              </a:rPr>
              <a:t>Property rights and obligations:- </a:t>
            </a:r>
            <a:r>
              <a:rPr lang="en-US" sz="2800" dirty="0"/>
              <a:t>How will </a:t>
            </a:r>
            <a:r>
              <a:rPr lang="en-US" sz="2800" dirty="0">
                <a:solidFill>
                  <a:srgbClr val="FF0000"/>
                </a:solidFill>
              </a:rPr>
              <a:t>traditional</a:t>
            </a:r>
            <a:r>
              <a:rPr lang="en-US" sz="2800" dirty="0"/>
              <a:t> </a:t>
            </a:r>
            <a:r>
              <a:rPr lang="en-US" sz="2800" dirty="0">
                <a:solidFill>
                  <a:srgbClr val="00B0F0"/>
                </a:solidFill>
              </a:rPr>
              <a:t>intellectual property rights </a:t>
            </a:r>
            <a:r>
              <a:rPr lang="en-US" sz="2800" dirty="0"/>
              <a:t>be protected in a </a:t>
            </a:r>
            <a:r>
              <a:rPr lang="en-US" sz="2800" dirty="0">
                <a:solidFill>
                  <a:srgbClr val="FF0000"/>
                </a:solidFill>
              </a:rPr>
              <a:t>digital society </a:t>
            </a:r>
            <a:r>
              <a:rPr lang="en-US" sz="2800" dirty="0"/>
              <a:t>in which tracing and accounting for ownership are </a:t>
            </a:r>
            <a:r>
              <a:rPr lang="en-US" sz="2800" dirty="0">
                <a:solidFill>
                  <a:srgbClr val="FF0000"/>
                </a:solidFill>
              </a:rPr>
              <a:t>difficult</a:t>
            </a:r>
            <a:r>
              <a:rPr lang="en-US" sz="2800" dirty="0"/>
              <a:t> and </a:t>
            </a:r>
            <a:r>
              <a:rPr lang="en-US" sz="2800" dirty="0">
                <a:solidFill>
                  <a:srgbClr val="FF0000"/>
                </a:solidFill>
              </a:rPr>
              <a:t>ignoring</a:t>
            </a:r>
            <a:r>
              <a:rPr lang="en-US" sz="2800" dirty="0"/>
              <a:t> such property rights is so easy</a:t>
            </a:r>
            <a:r>
              <a:rPr lang="en-US" dirty="0"/>
              <a:t>?</a:t>
            </a:r>
          </a:p>
          <a:p>
            <a:pPr marL="0" indent="0" algn="just">
              <a:buNone/>
            </a:pPr>
            <a:r>
              <a:rPr lang="en-US" sz="2800" dirty="0"/>
              <a:t>e.g. a student “cracked ” a version of expensive software instead of paying for a license. How does this impact the developer’s ability to create future innovations?</a:t>
            </a:r>
          </a:p>
          <a:p>
            <a:endParaRPr lang="en-US" dirty="0"/>
          </a:p>
        </p:txBody>
      </p:sp>
      <p:sp>
        <p:nvSpPr>
          <p:cNvPr id="4" name="Slide Number Placeholder 3">
            <a:extLst>
              <a:ext uri="{FF2B5EF4-FFF2-40B4-BE49-F238E27FC236}">
                <a16:creationId xmlns:a16="http://schemas.microsoft.com/office/drawing/2014/main" id="{4A1BC988-C5EE-08F5-F6CD-A5F4FA87B7A7}"/>
              </a:ext>
            </a:extLst>
          </p:cNvPr>
          <p:cNvSpPr>
            <a:spLocks noGrp="1"/>
          </p:cNvSpPr>
          <p:nvPr>
            <p:ph type="sldNum" sz="quarter" idx="12"/>
          </p:nvPr>
        </p:nvSpPr>
        <p:spPr/>
        <p:txBody>
          <a:bodyPr/>
          <a:lstStyle/>
          <a:p>
            <a:fld id="{B7CBDEE6-AD54-4DB7-8F93-7DE5909EBAB5}" type="slidenum">
              <a:rPr lang="en-US" smtClean="0"/>
              <a:t>7</a:t>
            </a:fld>
            <a:endParaRPr lang="en-US"/>
          </a:p>
        </p:txBody>
      </p:sp>
    </p:spTree>
    <p:extLst>
      <p:ext uri="{BB962C8B-B14F-4D97-AF65-F5344CB8AC3E}">
        <p14:creationId xmlns:p14="http://schemas.microsoft.com/office/powerpoint/2010/main" val="2555208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339" y="915337"/>
            <a:ext cx="7675806" cy="1303867"/>
          </a:xfrm>
        </p:spPr>
        <p:txBody>
          <a:bodyPr>
            <a:normAutofit/>
          </a:bodyPr>
          <a:lstStyle/>
          <a:p>
            <a:r>
              <a:rPr lang="en-US" altLang="en-US" sz="3200" b="1" dirty="0">
                <a:solidFill>
                  <a:srgbClr val="0070C0"/>
                </a:solidFill>
              </a:rPr>
              <a:t>Moral dimensions of the information age</a:t>
            </a:r>
            <a:r>
              <a:rPr lang="en-US" altLang="en-US" sz="3200" b="1" i="1" dirty="0">
                <a:solidFill>
                  <a:srgbClr val="0070C0"/>
                </a:solidFill>
              </a:rPr>
              <a:t>...</a:t>
            </a:r>
            <a:endParaRPr lang="en-US" sz="3200" dirty="0"/>
          </a:p>
        </p:txBody>
      </p:sp>
      <p:sp>
        <p:nvSpPr>
          <p:cNvPr id="3" name="Content Placeholder 2"/>
          <p:cNvSpPr>
            <a:spLocks noGrp="1"/>
          </p:cNvSpPr>
          <p:nvPr>
            <p:ph idx="1"/>
          </p:nvPr>
        </p:nvSpPr>
        <p:spPr>
          <a:xfrm>
            <a:off x="837126" y="2490135"/>
            <a:ext cx="7547019" cy="3444997"/>
          </a:xfrm>
        </p:spPr>
        <p:txBody>
          <a:bodyPr>
            <a:normAutofit lnSpcReduction="10000"/>
          </a:bodyPr>
          <a:lstStyle/>
          <a:p>
            <a:pPr marL="0" indent="0" algn="just">
              <a:buNone/>
            </a:pPr>
            <a:r>
              <a:rPr lang="en-US" sz="2800" dirty="0">
                <a:solidFill>
                  <a:srgbClr val="C00000"/>
                </a:solidFill>
              </a:rPr>
              <a:t>3</a:t>
            </a:r>
            <a:r>
              <a:rPr lang="en-US" sz="2800" i="1" dirty="0">
                <a:solidFill>
                  <a:srgbClr val="C00000"/>
                </a:solidFill>
              </a:rPr>
              <a:t>. </a:t>
            </a:r>
            <a:r>
              <a:rPr lang="en-US" sz="2800" dirty="0">
                <a:solidFill>
                  <a:srgbClr val="C00000"/>
                </a:solidFill>
              </a:rPr>
              <a:t>Accountability and control:- </a:t>
            </a:r>
            <a:r>
              <a:rPr lang="en-US" sz="2800" dirty="0">
                <a:solidFill>
                  <a:srgbClr val="FF0000"/>
                </a:solidFill>
              </a:rPr>
              <a:t>Who </a:t>
            </a:r>
            <a:r>
              <a:rPr lang="en-US" sz="2800" dirty="0"/>
              <a:t>can and will be held </a:t>
            </a:r>
            <a:r>
              <a:rPr lang="en-US" sz="2800" dirty="0">
                <a:solidFill>
                  <a:srgbClr val="FF0000"/>
                </a:solidFill>
              </a:rPr>
              <a:t>accountable</a:t>
            </a:r>
            <a:r>
              <a:rPr lang="en-US" sz="2800" dirty="0"/>
              <a:t> and </a:t>
            </a:r>
            <a:r>
              <a:rPr lang="en-US" sz="2800" dirty="0">
                <a:solidFill>
                  <a:srgbClr val="FF0000"/>
                </a:solidFill>
              </a:rPr>
              <a:t>liable (responsible)</a:t>
            </a:r>
            <a:r>
              <a:rPr lang="en-US" sz="2800" dirty="0"/>
              <a:t> for the </a:t>
            </a:r>
            <a:r>
              <a:rPr lang="en-US" sz="2800" dirty="0">
                <a:solidFill>
                  <a:srgbClr val="FF0000"/>
                </a:solidFill>
              </a:rPr>
              <a:t>harm</a:t>
            </a:r>
            <a:r>
              <a:rPr lang="en-US" sz="2800" dirty="0"/>
              <a:t> done to individual and collective information and property rights?</a:t>
            </a:r>
          </a:p>
          <a:p>
            <a:pPr marL="0" indent="0" algn="just">
              <a:buNone/>
            </a:pPr>
            <a:r>
              <a:rPr lang="en-US" sz="2800" dirty="0"/>
              <a:t>e.g</a:t>
            </a:r>
            <a:r>
              <a:rPr lang="en-US" dirty="0"/>
              <a:t>. If AI driven medical diagnosis tool gives a wrong prescription, who is liable? The doctor who use the program? The programmer who wrote the code? Or the hospital that bout it?</a:t>
            </a:r>
          </a:p>
          <a:p>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8</a:t>
            </a:fld>
            <a:endParaRPr lang="en-US"/>
          </a:p>
        </p:txBody>
      </p:sp>
    </p:spTree>
    <p:extLst>
      <p:ext uri="{BB962C8B-B14F-4D97-AF65-F5344CB8AC3E}">
        <p14:creationId xmlns:p14="http://schemas.microsoft.com/office/powerpoint/2010/main" val="3205411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FF13C-26B4-C755-DC29-398067D1CDE1}"/>
              </a:ext>
            </a:extLst>
          </p:cNvPr>
          <p:cNvSpPr>
            <a:spLocks noGrp="1"/>
          </p:cNvSpPr>
          <p:nvPr>
            <p:ph type="title"/>
          </p:nvPr>
        </p:nvSpPr>
        <p:spPr/>
        <p:txBody>
          <a:bodyPr>
            <a:normAutofit/>
          </a:bodyPr>
          <a:lstStyle/>
          <a:p>
            <a:r>
              <a:rPr lang="en-US" altLang="en-US" sz="2800" b="1" dirty="0">
                <a:solidFill>
                  <a:srgbClr val="0070C0"/>
                </a:solidFill>
              </a:rPr>
              <a:t>Moral dimensions of the information age</a:t>
            </a:r>
            <a:r>
              <a:rPr lang="en-US" altLang="en-US" sz="2800" b="1" i="1" dirty="0">
                <a:solidFill>
                  <a:srgbClr val="0070C0"/>
                </a:solidFill>
              </a:rPr>
              <a:t>...</a:t>
            </a:r>
            <a:endParaRPr lang="en-US" sz="2800" dirty="0"/>
          </a:p>
        </p:txBody>
      </p:sp>
      <p:sp>
        <p:nvSpPr>
          <p:cNvPr id="3" name="Content Placeholder 2">
            <a:extLst>
              <a:ext uri="{FF2B5EF4-FFF2-40B4-BE49-F238E27FC236}">
                <a16:creationId xmlns:a16="http://schemas.microsoft.com/office/drawing/2014/main" id="{5E5AC89A-2D8B-B255-4815-A8BCE3777AFB}"/>
              </a:ext>
            </a:extLst>
          </p:cNvPr>
          <p:cNvSpPr>
            <a:spLocks noGrp="1"/>
          </p:cNvSpPr>
          <p:nvPr>
            <p:ph idx="1"/>
          </p:nvPr>
        </p:nvSpPr>
        <p:spPr>
          <a:xfrm>
            <a:off x="615142" y="2490135"/>
            <a:ext cx="7963593" cy="3444997"/>
          </a:xfrm>
        </p:spPr>
        <p:txBody>
          <a:bodyPr>
            <a:normAutofit/>
          </a:bodyPr>
          <a:lstStyle/>
          <a:p>
            <a:pPr marL="0" indent="0">
              <a:buNone/>
            </a:pPr>
            <a:r>
              <a:rPr lang="en-US" sz="2800" dirty="0"/>
              <a:t> </a:t>
            </a:r>
            <a:r>
              <a:rPr lang="en-US" sz="2800" dirty="0">
                <a:solidFill>
                  <a:srgbClr val="C00000"/>
                </a:solidFill>
                <a:cs typeface="Arial" charset="0"/>
              </a:rPr>
              <a:t>4. S</a:t>
            </a:r>
            <a:r>
              <a:rPr lang="en-US" sz="2800" dirty="0">
                <a:solidFill>
                  <a:srgbClr val="C00000"/>
                </a:solidFill>
              </a:rPr>
              <a:t>ystem  quality:- </a:t>
            </a:r>
            <a:r>
              <a:rPr lang="en-US" sz="2800" dirty="0"/>
              <a:t>What </a:t>
            </a:r>
            <a:r>
              <a:rPr lang="en-US" sz="2800" dirty="0">
                <a:solidFill>
                  <a:srgbClr val="FF0000"/>
                </a:solidFill>
              </a:rPr>
              <a:t>standards of data </a:t>
            </a:r>
            <a:r>
              <a:rPr lang="en-US" sz="2800" dirty="0"/>
              <a:t>and </a:t>
            </a:r>
            <a:r>
              <a:rPr lang="en-US" sz="2800" dirty="0">
                <a:solidFill>
                  <a:srgbClr val="FF0000"/>
                </a:solidFill>
              </a:rPr>
              <a:t>system quality</a:t>
            </a:r>
            <a:r>
              <a:rPr lang="en-US" sz="2800" dirty="0"/>
              <a:t> should we demand to </a:t>
            </a:r>
            <a:r>
              <a:rPr lang="en-US" sz="2800" dirty="0">
                <a:solidFill>
                  <a:srgbClr val="FF0000"/>
                </a:solidFill>
              </a:rPr>
              <a:t>protect individual rights </a:t>
            </a:r>
            <a:r>
              <a:rPr lang="en-US" sz="2800" dirty="0"/>
              <a:t>and the </a:t>
            </a:r>
            <a:r>
              <a:rPr lang="en-US" sz="2800" dirty="0">
                <a:solidFill>
                  <a:srgbClr val="FF0000"/>
                </a:solidFill>
              </a:rPr>
              <a:t>safety of society</a:t>
            </a:r>
            <a:r>
              <a:rPr lang="en-US" sz="2800" dirty="0"/>
              <a:t>?</a:t>
            </a:r>
          </a:p>
          <a:p>
            <a:pPr marL="0" indent="0" algn="just">
              <a:buNone/>
            </a:pPr>
            <a:r>
              <a:rPr lang="en-US" sz="2800" dirty="0"/>
              <a:t>e.g. a bug in a bank’s database deletes customer transaction records. What is the “acceptable” level of error before a system is considered unethical to use?</a:t>
            </a:r>
          </a:p>
        </p:txBody>
      </p:sp>
      <p:sp>
        <p:nvSpPr>
          <p:cNvPr id="4" name="Slide Number Placeholder 3">
            <a:extLst>
              <a:ext uri="{FF2B5EF4-FFF2-40B4-BE49-F238E27FC236}">
                <a16:creationId xmlns:a16="http://schemas.microsoft.com/office/drawing/2014/main" id="{735E6172-90B9-6280-E498-8388B8714E18}"/>
              </a:ext>
            </a:extLst>
          </p:cNvPr>
          <p:cNvSpPr>
            <a:spLocks noGrp="1"/>
          </p:cNvSpPr>
          <p:nvPr>
            <p:ph type="sldNum" sz="quarter" idx="12"/>
          </p:nvPr>
        </p:nvSpPr>
        <p:spPr/>
        <p:txBody>
          <a:bodyPr/>
          <a:lstStyle/>
          <a:p>
            <a:fld id="{B7CBDEE6-AD54-4DB7-8F93-7DE5909EBAB5}" type="slidenum">
              <a:rPr lang="en-US" smtClean="0"/>
              <a:t>9</a:t>
            </a:fld>
            <a:endParaRPr lang="en-US"/>
          </a:p>
        </p:txBody>
      </p:sp>
    </p:spTree>
    <p:extLst>
      <p:ext uri="{BB962C8B-B14F-4D97-AF65-F5344CB8AC3E}">
        <p14:creationId xmlns:p14="http://schemas.microsoft.com/office/powerpoint/2010/main" val="3332369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337" y="915337"/>
            <a:ext cx="7753081" cy="1303867"/>
          </a:xfrm>
        </p:spPr>
        <p:txBody>
          <a:bodyPr>
            <a:normAutofit fontScale="90000"/>
          </a:bodyPr>
          <a:lstStyle/>
          <a:p>
            <a:r>
              <a:rPr lang="en-US" altLang="en-US" b="1" dirty="0">
                <a:solidFill>
                  <a:srgbClr val="0070C0"/>
                </a:solidFill>
              </a:rPr>
              <a:t>Moral dimensions of the information age</a:t>
            </a:r>
            <a:r>
              <a:rPr lang="en-US" altLang="en-US" b="1" i="1" dirty="0">
                <a:solidFill>
                  <a:srgbClr val="0070C0"/>
                </a:solidFill>
              </a:rPr>
              <a:t>...</a:t>
            </a:r>
            <a:endParaRPr lang="en-US" dirty="0"/>
          </a:p>
        </p:txBody>
      </p:sp>
      <p:sp>
        <p:nvSpPr>
          <p:cNvPr id="3" name="Content Placeholder 2"/>
          <p:cNvSpPr>
            <a:spLocks noGrp="1"/>
          </p:cNvSpPr>
          <p:nvPr>
            <p:ph idx="1"/>
          </p:nvPr>
        </p:nvSpPr>
        <p:spPr>
          <a:xfrm>
            <a:off x="811368" y="2490135"/>
            <a:ext cx="7650051" cy="3859150"/>
          </a:xfrm>
        </p:spPr>
        <p:txBody>
          <a:bodyPr>
            <a:noAutofit/>
          </a:bodyPr>
          <a:lstStyle/>
          <a:p>
            <a:pPr marL="0" indent="0" algn="just">
              <a:lnSpc>
                <a:spcPct val="150000"/>
              </a:lnSpc>
              <a:buNone/>
              <a:defRPr/>
            </a:pPr>
            <a:r>
              <a:rPr lang="en-US" altLang="en-US" sz="2700" dirty="0">
                <a:solidFill>
                  <a:srgbClr val="C00000"/>
                </a:solidFill>
              </a:rPr>
              <a:t>5.Quality of life: </a:t>
            </a:r>
            <a:r>
              <a:rPr lang="en-US" altLang="en-US" sz="2700" dirty="0">
                <a:solidFill>
                  <a:srgbClr val="FF0000"/>
                </a:solidFill>
              </a:rPr>
              <a:t>What values </a:t>
            </a:r>
            <a:r>
              <a:rPr lang="en-US" altLang="en-US" sz="2700" dirty="0"/>
              <a:t>should be preserved in an information- and knowledge-based society? </a:t>
            </a:r>
            <a:endParaRPr lang="en-US" altLang="en-US" sz="2700" i="1" dirty="0">
              <a:solidFill>
                <a:srgbClr val="C00000"/>
              </a:solidFill>
            </a:endParaRPr>
          </a:p>
          <a:p>
            <a:pPr>
              <a:lnSpc>
                <a:spcPct val="150000"/>
              </a:lnSpc>
              <a:buFont typeface="Wingdings" panose="05000000000000000000" pitchFamily="2" charset="2"/>
              <a:buChar char="ü"/>
              <a:defRPr/>
            </a:pPr>
            <a:r>
              <a:rPr lang="en-US" altLang="en-US" sz="2700" dirty="0"/>
              <a:t>Which institutions should we protect from violation? </a:t>
            </a:r>
          </a:p>
          <a:p>
            <a:pPr>
              <a:lnSpc>
                <a:spcPct val="150000"/>
              </a:lnSpc>
              <a:buFont typeface="Wingdings" panose="05000000000000000000" pitchFamily="2" charset="2"/>
              <a:buChar char="ü"/>
              <a:defRPr/>
            </a:pPr>
            <a:r>
              <a:rPr lang="en-US" altLang="en-US" sz="2700" dirty="0"/>
              <a:t>Which cultural values and practices are supported by the new information technology?</a:t>
            </a:r>
          </a:p>
          <a:p>
            <a:endParaRPr lang="en-US" sz="2700" dirty="0"/>
          </a:p>
        </p:txBody>
      </p:sp>
      <p:sp>
        <p:nvSpPr>
          <p:cNvPr id="4" name="Slide Number Placeholder 3"/>
          <p:cNvSpPr>
            <a:spLocks noGrp="1"/>
          </p:cNvSpPr>
          <p:nvPr>
            <p:ph type="sldNum" sz="quarter" idx="12"/>
          </p:nvPr>
        </p:nvSpPr>
        <p:spPr/>
        <p:txBody>
          <a:bodyPr/>
          <a:lstStyle/>
          <a:p>
            <a:fld id="{B7CBDEE6-AD54-4DB7-8F93-7DE5909EBAB5}" type="slidenum">
              <a:rPr lang="en-US" smtClean="0"/>
              <a:t>10</a:t>
            </a:fld>
            <a:endParaRPr lang="en-US"/>
          </a:p>
        </p:txBody>
      </p:sp>
    </p:spTree>
    <p:extLst>
      <p:ext uri="{BB962C8B-B14F-4D97-AF65-F5344CB8AC3E}">
        <p14:creationId xmlns:p14="http://schemas.microsoft.com/office/powerpoint/2010/main" val="1568952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8157-E811-92BA-DE89-BC1CE682D65A}"/>
              </a:ext>
            </a:extLst>
          </p:cNvPr>
          <p:cNvSpPr>
            <a:spLocks noGrp="1"/>
          </p:cNvSpPr>
          <p:nvPr>
            <p:ph type="title"/>
          </p:nvPr>
        </p:nvSpPr>
        <p:spPr/>
        <p:txBody>
          <a:bodyPr>
            <a:normAutofit/>
          </a:bodyPr>
          <a:lstStyle/>
          <a:p>
            <a:r>
              <a:rPr lang="en-US" altLang="en-US" sz="2800" b="1" dirty="0">
                <a:solidFill>
                  <a:srgbClr val="0070C0"/>
                </a:solidFill>
              </a:rPr>
              <a:t>Moral dimensions of the information age</a:t>
            </a:r>
            <a:r>
              <a:rPr lang="en-US" altLang="en-US" sz="2800" b="1" i="1" dirty="0">
                <a:solidFill>
                  <a:srgbClr val="0070C0"/>
                </a:solidFill>
              </a:rPr>
              <a:t>...</a:t>
            </a:r>
            <a:endParaRPr lang="en-US" sz="2800" dirty="0"/>
          </a:p>
        </p:txBody>
      </p:sp>
      <p:sp>
        <p:nvSpPr>
          <p:cNvPr id="3" name="Content Placeholder 2">
            <a:extLst>
              <a:ext uri="{FF2B5EF4-FFF2-40B4-BE49-F238E27FC236}">
                <a16:creationId xmlns:a16="http://schemas.microsoft.com/office/drawing/2014/main" id="{3CEDC29F-F788-F152-3E42-ACD825416710}"/>
              </a:ext>
            </a:extLst>
          </p:cNvPr>
          <p:cNvSpPr>
            <a:spLocks noGrp="1"/>
          </p:cNvSpPr>
          <p:nvPr>
            <p:ph idx="1"/>
          </p:nvPr>
        </p:nvSpPr>
        <p:spPr>
          <a:xfrm>
            <a:off x="756458" y="2490135"/>
            <a:ext cx="7622771" cy="3444997"/>
          </a:xfrm>
        </p:spPr>
        <p:txBody>
          <a:bodyPr>
            <a:normAutofit/>
          </a:bodyPr>
          <a:lstStyle/>
          <a:p>
            <a:pPr marL="0" indent="0" algn="just">
              <a:buNone/>
            </a:pPr>
            <a:r>
              <a:rPr lang="en-US" sz="2800" dirty="0"/>
              <a:t>e.g. the “always on” culture where employees feel obligated to answer work telegram messages at 9:00 pm because technology allows them to be reached anywhere.</a:t>
            </a:r>
          </a:p>
          <a:p>
            <a:pPr marL="0" indent="0" algn="just">
              <a:buNone/>
            </a:pPr>
            <a:r>
              <a:rPr lang="en-US" sz="2800" dirty="0">
                <a:solidFill>
                  <a:srgbClr val="FF0000"/>
                </a:solidFill>
              </a:rPr>
              <a:t>Nb. Technology act like a stone thrown into a pond, creating ripples that disturb existing social and political arrangements.</a:t>
            </a:r>
          </a:p>
        </p:txBody>
      </p:sp>
      <p:sp>
        <p:nvSpPr>
          <p:cNvPr id="4" name="Slide Number Placeholder 3">
            <a:extLst>
              <a:ext uri="{FF2B5EF4-FFF2-40B4-BE49-F238E27FC236}">
                <a16:creationId xmlns:a16="http://schemas.microsoft.com/office/drawing/2014/main" id="{0E9B6B30-0224-1C35-3886-2E748E595DDB}"/>
              </a:ext>
            </a:extLst>
          </p:cNvPr>
          <p:cNvSpPr>
            <a:spLocks noGrp="1"/>
          </p:cNvSpPr>
          <p:nvPr>
            <p:ph type="sldNum" sz="quarter" idx="12"/>
          </p:nvPr>
        </p:nvSpPr>
        <p:spPr/>
        <p:txBody>
          <a:bodyPr/>
          <a:lstStyle/>
          <a:p>
            <a:fld id="{B7CBDEE6-AD54-4DB7-8F93-7DE5909EBAB5}" type="slidenum">
              <a:rPr lang="en-US" smtClean="0"/>
              <a:t>11</a:t>
            </a:fld>
            <a:endParaRPr lang="en-US"/>
          </a:p>
        </p:txBody>
      </p:sp>
    </p:spTree>
    <p:extLst>
      <p:ext uri="{BB962C8B-B14F-4D97-AF65-F5344CB8AC3E}">
        <p14:creationId xmlns:p14="http://schemas.microsoft.com/office/powerpoint/2010/main" val="2353441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508" y="1051159"/>
            <a:ext cx="7843232" cy="1303867"/>
          </a:xfrm>
        </p:spPr>
        <p:txBody>
          <a:bodyPr>
            <a:normAutofit fontScale="90000"/>
          </a:bodyPr>
          <a:lstStyle/>
          <a:p>
            <a:r>
              <a:rPr lang="en-US" altLang="en-US" b="1" dirty="0">
                <a:solidFill>
                  <a:srgbClr val="00B0F0"/>
                </a:solidFill>
                <a:cs typeface="Times New Roman" panose="02020603050405020304" pitchFamily="18" charset="0"/>
              </a:rPr>
              <a:t>Key technology trends that raise ethical issues</a:t>
            </a:r>
            <a:br>
              <a:rPr lang="en-US" altLang="en-US" b="1" dirty="0">
                <a:solidFill>
                  <a:srgbClr val="00B0F0"/>
                </a:solidFill>
                <a:cs typeface="Times New Roman" panose="02020603050405020304" pitchFamily="18" charset="0"/>
              </a:rPr>
            </a:br>
            <a:endParaRPr lang="en-US" dirty="0"/>
          </a:p>
        </p:txBody>
      </p:sp>
      <p:sp>
        <p:nvSpPr>
          <p:cNvPr id="3" name="Content Placeholder 2"/>
          <p:cNvSpPr>
            <a:spLocks noGrp="1"/>
          </p:cNvSpPr>
          <p:nvPr>
            <p:ph idx="1"/>
          </p:nvPr>
        </p:nvSpPr>
        <p:spPr>
          <a:xfrm>
            <a:off x="914400" y="2490135"/>
            <a:ext cx="7583449" cy="3884907"/>
          </a:xfrm>
        </p:spPr>
        <p:txBody>
          <a:bodyPr>
            <a:normAutofit/>
          </a:bodyPr>
          <a:lstStyle/>
          <a:p>
            <a:pPr algn="just"/>
            <a:r>
              <a:rPr lang="en-US" altLang="en-US" sz="2800" b="1" dirty="0">
                <a:solidFill>
                  <a:srgbClr val="C00000"/>
                </a:solidFill>
              </a:rPr>
              <a:t>Computing power doubles every 18 months: </a:t>
            </a:r>
            <a:r>
              <a:rPr lang="en-US" sz="2800" dirty="0"/>
              <a:t>leading to a massive organizational dependency on computer systems for critical operations.</a:t>
            </a:r>
            <a:endParaRPr lang="en-US" sz="2800" b="1" dirty="0">
              <a:solidFill>
                <a:srgbClr val="C00000"/>
              </a:solidFill>
            </a:endParaRPr>
          </a:p>
          <a:p>
            <a:pPr algn="just"/>
            <a:r>
              <a:rPr lang="en-US" altLang="en-US" sz="2800" b="1" dirty="0">
                <a:solidFill>
                  <a:srgbClr val="C00000"/>
                </a:solidFill>
              </a:rPr>
              <a:t>Data storage costs rapidly declining: </a:t>
            </a:r>
            <a:r>
              <a:rPr lang="en-US" sz="2800" dirty="0"/>
              <a:t>Organizations can easily maintain detailed databases on individuals.</a:t>
            </a:r>
          </a:p>
          <a:p>
            <a:pPr lvl="1" algn="just">
              <a:spcAft>
                <a:spcPct val="25000"/>
              </a:spcAft>
              <a:buFontTx/>
              <a:buChar char="•"/>
              <a:defRPr/>
            </a:pPr>
            <a:endParaRPr lang="en-US" altLang="en-US" sz="2800" dirty="0"/>
          </a:p>
          <a:p>
            <a:pPr algn="just"/>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12</a:t>
            </a:fld>
            <a:endParaRPr lang="en-US"/>
          </a:p>
        </p:txBody>
      </p:sp>
    </p:spTree>
    <p:extLst>
      <p:ext uri="{BB962C8B-B14F-4D97-AF65-F5344CB8AC3E}">
        <p14:creationId xmlns:p14="http://schemas.microsoft.com/office/powerpoint/2010/main" val="2627577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096" y="1186268"/>
            <a:ext cx="7753079" cy="1303867"/>
          </a:xfrm>
        </p:spPr>
        <p:txBody>
          <a:bodyPr>
            <a:normAutofit fontScale="90000"/>
          </a:bodyPr>
          <a:lstStyle/>
          <a:p>
            <a:r>
              <a:rPr lang="en-US" altLang="en-US" b="1" dirty="0">
                <a:solidFill>
                  <a:srgbClr val="00B0F0"/>
                </a:solidFill>
                <a:cs typeface="Times New Roman" panose="02020603050405020304" pitchFamily="18" charset="0"/>
              </a:rPr>
              <a:t>Key technology trends that raise ethical issues..</a:t>
            </a:r>
            <a:br>
              <a:rPr lang="en-US" altLang="en-US" b="1" dirty="0">
                <a:solidFill>
                  <a:srgbClr val="00B0F0"/>
                </a:solidFill>
                <a:cs typeface="Times New Roman" panose="02020603050405020304" pitchFamily="18" charset="0"/>
              </a:rPr>
            </a:br>
            <a:endParaRPr lang="en-US" dirty="0"/>
          </a:p>
        </p:txBody>
      </p:sp>
      <p:sp>
        <p:nvSpPr>
          <p:cNvPr id="3" name="Content Placeholder 2"/>
          <p:cNvSpPr>
            <a:spLocks noGrp="1"/>
          </p:cNvSpPr>
          <p:nvPr>
            <p:ph idx="1"/>
          </p:nvPr>
        </p:nvSpPr>
        <p:spPr>
          <a:xfrm>
            <a:off x="734096" y="2490135"/>
            <a:ext cx="7753079" cy="3749798"/>
          </a:xfrm>
        </p:spPr>
        <p:txBody>
          <a:bodyPr>
            <a:normAutofit/>
          </a:bodyPr>
          <a:lstStyle/>
          <a:p>
            <a:r>
              <a:rPr lang="en-US" altLang="en-US" b="1" dirty="0">
                <a:solidFill>
                  <a:srgbClr val="C00000"/>
                </a:solidFill>
              </a:rPr>
              <a:t>Data analysis advances</a:t>
            </a:r>
            <a:endParaRPr lang="en-US" dirty="0"/>
          </a:p>
          <a:p>
            <a:pPr lvl="2" algn="just">
              <a:spcAft>
                <a:spcPct val="35000"/>
              </a:spcAft>
              <a:buFont typeface="Wingdings" panose="05000000000000000000" pitchFamily="2" charset="2"/>
              <a:buChar char="ü"/>
              <a:defRPr/>
            </a:pPr>
            <a:r>
              <a:rPr lang="en-US" altLang="en-US" sz="2400" dirty="0"/>
              <a:t>Greater ability to find detailed personal information on individuals</a:t>
            </a:r>
          </a:p>
          <a:p>
            <a:pPr lvl="2" algn="just">
              <a:spcAft>
                <a:spcPct val="35000"/>
              </a:spcAft>
              <a:buFont typeface="Wingdings" panose="05000000000000000000" pitchFamily="2" charset="2"/>
              <a:buChar char="ü"/>
              <a:defRPr/>
            </a:pPr>
            <a:r>
              <a:rPr lang="en-US" altLang="en-US" sz="2400" dirty="0"/>
              <a:t>Profiling and nonobvious relationship awareness (NORA). </a:t>
            </a:r>
            <a:endParaRPr lang="en-US" altLang="en-US" dirty="0"/>
          </a:p>
          <a:p>
            <a:pPr marL="914400" lvl="2" indent="0" algn="just">
              <a:spcAft>
                <a:spcPct val="35000"/>
              </a:spcAft>
              <a:buNone/>
              <a:defRPr/>
            </a:pPr>
            <a:r>
              <a:rPr lang="en-US" sz="2400" dirty="0">
                <a:solidFill>
                  <a:srgbClr val="FF0000"/>
                </a:solidFill>
              </a:rPr>
              <a:t>NORA: Combining</a:t>
            </a:r>
            <a:r>
              <a:rPr lang="en-US" sz="2400" dirty="0"/>
              <a:t> data from </a:t>
            </a:r>
            <a:r>
              <a:rPr lang="en-US" sz="2400" dirty="0">
                <a:solidFill>
                  <a:srgbClr val="FF0000"/>
                </a:solidFill>
              </a:rPr>
              <a:t>multiple sources </a:t>
            </a:r>
            <a:r>
              <a:rPr lang="en-US" sz="2400" dirty="0"/>
              <a:t>to find obscure (ambiguous) hidden connections that might help identify </a:t>
            </a:r>
            <a:r>
              <a:rPr lang="en-US" sz="2400" dirty="0">
                <a:solidFill>
                  <a:srgbClr val="FF0000"/>
                </a:solidFill>
              </a:rPr>
              <a:t>criminals or terrorists.</a:t>
            </a:r>
            <a:endParaRPr lang="en-US" sz="3200" dirty="0">
              <a:solidFill>
                <a:srgbClr val="FF0000"/>
              </a:solidFill>
            </a:endParaRPr>
          </a:p>
          <a:p>
            <a:pPr marL="914400" lvl="2" indent="0" algn="just">
              <a:spcAft>
                <a:spcPct val="35000"/>
              </a:spcAft>
              <a:buNone/>
              <a:defRPr/>
            </a:pPr>
            <a:endParaRPr lang="en-US" altLang="en-US" sz="2400" dirty="0"/>
          </a:p>
        </p:txBody>
      </p:sp>
      <p:sp>
        <p:nvSpPr>
          <p:cNvPr id="4" name="Slide Number Placeholder 3"/>
          <p:cNvSpPr>
            <a:spLocks noGrp="1"/>
          </p:cNvSpPr>
          <p:nvPr>
            <p:ph type="sldNum" sz="quarter" idx="12"/>
          </p:nvPr>
        </p:nvSpPr>
        <p:spPr/>
        <p:txBody>
          <a:bodyPr/>
          <a:lstStyle/>
          <a:p>
            <a:fld id="{B7CBDEE6-AD54-4DB7-8F93-7DE5909EBAB5}" type="slidenum">
              <a:rPr lang="en-US" smtClean="0"/>
              <a:t>13</a:t>
            </a:fld>
            <a:endParaRPr lang="en-US"/>
          </a:p>
        </p:txBody>
      </p:sp>
    </p:spTree>
    <p:extLst>
      <p:ext uri="{BB962C8B-B14F-4D97-AF65-F5344CB8AC3E}">
        <p14:creationId xmlns:p14="http://schemas.microsoft.com/office/powerpoint/2010/main" val="1214137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187" y="915337"/>
            <a:ext cx="7804596" cy="1303867"/>
          </a:xfrm>
        </p:spPr>
        <p:txBody>
          <a:bodyPr>
            <a:normAutofit fontScale="90000"/>
          </a:bodyPr>
          <a:lstStyle/>
          <a:p>
            <a:r>
              <a:rPr lang="en-US" altLang="en-US" b="1" dirty="0">
                <a:solidFill>
                  <a:srgbClr val="00B0F0"/>
                </a:solidFill>
                <a:cs typeface="Times New Roman" panose="02020603050405020304" pitchFamily="18" charset="0"/>
              </a:rPr>
              <a:t>Key technology trends that raise ethical issues</a:t>
            </a:r>
            <a:br>
              <a:rPr lang="en-US" altLang="en-US" b="1" dirty="0">
                <a:solidFill>
                  <a:srgbClr val="00B0F0"/>
                </a:solidFill>
                <a:cs typeface="Times New Roman" panose="02020603050405020304" pitchFamily="18" charset="0"/>
              </a:rPr>
            </a:br>
            <a:endParaRPr lang="en-US" dirty="0"/>
          </a:p>
        </p:txBody>
      </p:sp>
      <p:sp>
        <p:nvSpPr>
          <p:cNvPr id="3" name="Content Placeholder 2"/>
          <p:cNvSpPr>
            <a:spLocks noGrp="1"/>
          </p:cNvSpPr>
          <p:nvPr>
            <p:ph idx="1"/>
          </p:nvPr>
        </p:nvSpPr>
        <p:spPr>
          <a:xfrm>
            <a:off x="723207" y="2490135"/>
            <a:ext cx="7888778" cy="3444997"/>
          </a:xfrm>
        </p:spPr>
        <p:txBody>
          <a:bodyPr>
            <a:normAutofit/>
          </a:bodyPr>
          <a:lstStyle/>
          <a:p>
            <a:pPr algn="just"/>
            <a:r>
              <a:rPr lang="en-US" altLang="en-US" sz="2800" b="1" dirty="0">
                <a:solidFill>
                  <a:srgbClr val="C00000"/>
                </a:solidFill>
              </a:rPr>
              <a:t>Networking advances and the Internet: </a:t>
            </a:r>
            <a:r>
              <a:rPr lang="en-US" sz="2800" dirty="0"/>
              <a:t>Copying data from one location to another and accessing personal data from remote locations are much easier.</a:t>
            </a:r>
          </a:p>
          <a:p>
            <a:pPr algn="just"/>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14</a:t>
            </a:fld>
            <a:endParaRPr lang="en-US"/>
          </a:p>
        </p:txBody>
      </p:sp>
    </p:spTree>
    <p:extLst>
      <p:ext uri="{BB962C8B-B14F-4D97-AF65-F5344CB8AC3E}">
        <p14:creationId xmlns:p14="http://schemas.microsoft.com/office/powerpoint/2010/main" val="125347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495" y="1160867"/>
            <a:ext cx="7817476" cy="1303867"/>
          </a:xfrm>
        </p:spPr>
        <p:txBody>
          <a:bodyPr>
            <a:normAutofit fontScale="90000"/>
          </a:bodyPr>
          <a:lstStyle/>
          <a:p>
            <a:br>
              <a:rPr lang="en-US" b="1" dirty="0"/>
            </a:br>
            <a:r>
              <a:rPr lang="en-US" b="1" dirty="0"/>
              <a:t>Basic concepts for ethical analysis </a:t>
            </a:r>
            <a:br>
              <a:rPr lang="en-US" b="1" dirty="0"/>
            </a:br>
            <a:br>
              <a:rPr lang="en-US" altLang="en-US" b="1" dirty="0">
                <a:solidFill>
                  <a:srgbClr val="00B0F0"/>
                </a:solidFill>
                <a:cs typeface="Times New Roman" panose="02020603050405020304" pitchFamily="18" charset="0"/>
              </a:rPr>
            </a:br>
            <a:endParaRPr lang="en-US" b="1" dirty="0"/>
          </a:p>
        </p:txBody>
      </p:sp>
      <p:sp>
        <p:nvSpPr>
          <p:cNvPr id="3" name="Content Placeholder 2"/>
          <p:cNvSpPr>
            <a:spLocks noGrp="1"/>
          </p:cNvSpPr>
          <p:nvPr>
            <p:ph idx="1"/>
          </p:nvPr>
        </p:nvSpPr>
        <p:spPr>
          <a:xfrm>
            <a:off x="515156" y="2490135"/>
            <a:ext cx="7856112" cy="3444997"/>
          </a:xfrm>
        </p:spPr>
        <p:txBody>
          <a:bodyPr>
            <a:noAutofit/>
          </a:bodyPr>
          <a:lstStyle/>
          <a:p>
            <a:pPr>
              <a:buFont typeface="Arial" panose="020B0604020202020204" pitchFamily="34" charset="0"/>
              <a:buChar char="•"/>
            </a:pPr>
            <a:r>
              <a:rPr lang="en-US" sz="2800" dirty="0"/>
              <a:t>Basic concepts for ethical analysis (key elements in ethical action):</a:t>
            </a:r>
          </a:p>
          <a:p>
            <a:pPr lvl="1" algn="just">
              <a:spcAft>
                <a:spcPct val="35000"/>
              </a:spcAft>
              <a:buFont typeface="Wingdings" panose="05000000000000000000" pitchFamily="2" charset="2"/>
              <a:buChar char="ü"/>
              <a:defRPr/>
            </a:pPr>
            <a:r>
              <a:rPr lang="en-US" altLang="en-US" sz="2800" b="1" dirty="0"/>
              <a:t>Responsibility: </a:t>
            </a:r>
            <a:r>
              <a:rPr lang="en-US" altLang="en-US" sz="2800" dirty="0"/>
              <a:t>Accepting the potential costs, duties, and obligations for decisions you make.</a:t>
            </a:r>
          </a:p>
          <a:p>
            <a:pPr lvl="1" algn="just">
              <a:spcAft>
                <a:spcPct val="35000"/>
              </a:spcAft>
              <a:buFont typeface="Wingdings" panose="05000000000000000000" pitchFamily="2" charset="2"/>
              <a:buChar char="ü"/>
              <a:defRPr/>
            </a:pPr>
            <a:r>
              <a:rPr lang="en-US" altLang="en-US" sz="2800" b="1" dirty="0"/>
              <a:t>Accountability: </a:t>
            </a:r>
            <a:r>
              <a:rPr lang="en-US" altLang="en-US" sz="2800" dirty="0"/>
              <a:t>Mechanisms for identifying </a:t>
            </a:r>
            <a:r>
              <a:rPr lang="en-US" altLang="en-US" sz="2800" dirty="0">
                <a:solidFill>
                  <a:srgbClr val="FF0000"/>
                </a:solidFill>
              </a:rPr>
              <a:t>responsible parties.</a:t>
            </a:r>
          </a:p>
          <a:p>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15</a:t>
            </a:fld>
            <a:endParaRPr lang="en-US"/>
          </a:p>
        </p:txBody>
      </p:sp>
    </p:spTree>
    <p:extLst>
      <p:ext uri="{BB962C8B-B14F-4D97-AF65-F5344CB8AC3E}">
        <p14:creationId xmlns:p14="http://schemas.microsoft.com/office/powerpoint/2010/main" val="3011458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7" y="1160867"/>
            <a:ext cx="6798734" cy="1303867"/>
          </a:xfrm>
        </p:spPr>
        <p:txBody>
          <a:bodyPr>
            <a:normAutofit fontScale="90000"/>
          </a:bodyPr>
          <a:lstStyle/>
          <a:p>
            <a:br>
              <a:rPr lang="en-US" dirty="0"/>
            </a:br>
            <a:r>
              <a:rPr lang="en-US" dirty="0"/>
              <a:t>Basic concepts for ethical analysis... </a:t>
            </a:r>
            <a:br>
              <a:rPr lang="en-US" dirty="0"/>
            </a:br>
            <a:br>
              <a:rPr lang="en-US" altLang="en-US" b="1" dirty="0">
                <a:solidFill>
                  <a:srgbClr val="00B0F0"/>
                </a:solidFill>
                <a:cs typeface="Times New Roman" panose="02020603050405020304" pitchFamily="18" charset="0"/>
              </a:rPr>
            </a:br>
            <a:endParaRPr lang="en-US" dirty="0"/>
          </a:p>
        </p:txBody>
      </p:sp>
      <p:sp>
        <p:nvSpPr>
          <p:cNvPr id="3" name="Content Placeholder 2"/>
          <p:cNvSpPr>
            <a:spLocks noGrp="1"/>
          </p:cNvSpPr>
          <p:nvPr>
            <p:ph idx="1"/>
          </p:nvPr>
        </p:nvSpPr>
        <p:spPr>
          <a:xfrm>
            <a:off x="540914" y="2490135"/>
            <a:ext cx="7843232" cy="3872028"/>
          </a:xfrm>
        </p:spPr>
        <p:txBody>
          <a:bodyPr>
            <a:normAutofit lnSpcReduction="10000"/>
          </a:bodyPr>
          <a:lstStyle/>
          <a:p>
            <a:pPr lvl="1" algn="just">
              <a:spcAft>
                <a:spcPct val="35000"/>
              </a:spcAft>
              <a:buFont typeface="Wingdings" panose="05000000000000000000" pitchFamily="2" charset="2"/>
              <a:buChar char="ü"/>
              <a:defRPr/>
            </a:pPr>
            <a:r>
              <a:rPr lang="en-US" altLang="en-US" sz="2400" b="1" dirty="0"/>
              <a:t>Liability: </a:t>
            </a:r>
            <a:r>
              <a:rPr lang="en-US" altLang="en-US" sz="2400" dirty="0"/>
              <a:t>Permits individuals (and firms) to </a:t>
            </a:r>
            <a:r>
              <a:rPr lang="en-US" altLang="en-US" sz="2400" dirty="0">
                <a:solidFill>
                  <a:srgbClr val="FF0000"/>
                </a:solidFill>
              </a:rPr>
              <a:t>recover damages </a:t>
            </a:r>
            <a:r>
              <a:rPr lang="en-US" altLang="en-US" sz="2400" dirty="0"/>
              <a:t>done to them  by other actors, systems, or organizations.</a:t>
            </a:r>
            <a:endParaRPr lang="en-US" altLang="en-US" dirty="0"/>
          </a:p>
          <a:p>
            <a:pPr lvl="1" algn="just">
              <a:spcAft>
                <a:spcPct val="35000"/>
              </a:spcAft>
              <a:buFont typeface="Wingdings" panose="05000000000000000000" pitchFamily="2" charset="2"/>
              <a:buChar char="ü"/>
              <a:defRPr/>
            </a:pPr>
            <a:r>
              <a:rPr lang="en-US" sz="2400" b="1" dirty="0"/>
              <a:t>Due process: </a:t>
            </a:r>
            <a:r>
              <a:rPr lang="en-US" sz="2400" dirty="0"/>
              <a:t>a process in which laws are known and understood, and there is an ability to </a:t>
            </a:r>
            <a:r>
              <a:rPr lang="en-US" sz="2400" dirty="0">
                <a:solidFill>
                  <a:srgbClr val="FF0000"/>
                </a:solidFill>
              </a:rPr>
              <a:t>appeal (request)to higher authorities </a:t>
            </a:r>
            <a:r>
              <a:rPr lang="en-US" sz="2400" dirty="0"/>
              <a:t>to ensure that the </a:t>
            </a:r>
            <a:r>
              <a:rPr lang="en-US" sz="2400" dirty="0">
                <a:solidFill>
                  <a:srgbClr val="FF0000"/>
                </a:solidFill>
              </a:rPr>
              <a:t>laws are applied correctly.</a:t>
            </a:r>
          </a:p>
          <a:p>
            <a:pPr lvl="1" algn="just">
              <a:spcAft>
                <a:spcPct val="35000"/>
              </a:spcAft>
              <a:buFont typeface="Wingdings" panose="05000000000000000000" pitchFamily="2" charset="2"/>
              <a:buChar char="ü"/>
              <a:defRPr/>
            </a:pPr>
            <a:r>
              <a:rPr lang="en-US" sz="2400" dirty="0">
                <a:solidFill>
                  <a:srgbClr val="FF0000"/>
                </a:solidFill>
              </a:rPr>
              <a:t>Individuals</a:t>
            </a:r>
            <a:r>
              <a:rPr lang="en-US" sz="2400" dirty="0"/>
              <a:t> can </a:t>
            </a:r>
            <a:r>
              <a:rPr lang="en-US" sz="2400" dirty="0">
                <a:solidFill>
                  <a:srgbClr val="FF0000"/>
                </a:solidFill>
              </a:rPr>
              <a:t>recover damages </a:t>
            </a:r>
            <a:r>
              <a:rPr lang="en-US" sz="2400" dirty="0"/>
              <a:t>done to them through a set of laws characterized by due process</a:t>
            </a:r>
            <a:r>
              <a:rPr lang="en-US" dirty="0"/>
              <a:t>.</a:t>
            </a:r>
          </a:p>
          <a:p>
            <a:endParaRPr lang="en-US" dirty="0"/>
          </a:p>
        </p:txBody>
      </p:sp>
      <p:sp>
        <p:nvSpPr>
          <p:cNvPr id="4" name="Slide Number Placeholder 3"/>
          <p:cNvSpPr>
            <a:spLocks noGrp="1"/>
          </p:cNvSpPr>
          <p:nvPr>
            <p:ph type="sldNum" sz="quarter" idx="12"/>
          </p:nvPr>
        </p:nvSpPr>
        <p:spPr/>
        <p:txBody>
          <a:bodyPr/>
          <a:lstStyle/>
          <a:p>
            <a:fld id="{B7CBDEE6-AD54-4DB7-8F93-7DE5909EBAB5}" type="slidenum">
              <a:rPr lang="en-US" smtClean="0"/>
              <a:t>16</a:t>
            </a:fld>
            <a:endParaRPr lang="en-US"/>
          </a:p>
        </p:txBody>
      </p:sp>
    </p:spTree>
    <p:extLst>
      <p:ext uri="{BB962C8B-B14F-4D97-AF65-F5344CB8AC3E}">
        <p14:creationId xmlns:p14="http://schemas.microsoft.com/office/powerpoint/2010/main" val="2516486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ethical analysis</a:t>
            </a:r>
          </a:p>
        </p:txBody>
      </p:sp>
      <p:sp>
        <p:nvSpPr>
          <p:cNvPr id="3" name="Content Placeholder 2"/>
          <p:cNvSpPr>
            <a:spLocks noGrp="1"/>
          </p:cNvSpPr>
          <p:nvPr>
            <p:ph idx="1"/>
          </p:nvPr>
        </p:nvSpPr>
        <p:spPr>
          <a:xfrm>
            <a:off x="631066" y="2490135"/>
            <a:ext cx="7778838" cy="3949302"/>
          </a:xfrm>
        </p:spPr>
        <p:txBody>
          <a:bodyPr>
            <a:normAutofit lnSpcReduction="10000"/>
          </a:bodyPr>
          <a:lstStyle/>
          <a:p>
            <a:pPr lvl="1">
              <a:spcAft>
                <a:spcPct val="45000"/>
              </a:spcAft>
              <a:buFont typeface="Arial" panose="020B0604020202020204" pitchFamily="34" charset="0"/>
              <a:buChar char="•"/>
              <a:defRPr/>
            </a:pPr>
            <a:r>
              <a:rPr lang="en-US" sz="2400" dirty="0"/>
              <a:t>Ethical analysis have 5 steps:</a:t>
            </a:r>
          </a:p>
          <a:p>
            <a:pPr marL="914400" lvl="1" indent="-457200">
              <a:spcAft>
                <a:spcPct val="45000"/>
              </a:spcAft>
              <a:buFontTx/>
              <a:buAutoNum type="arabicPeriod"/>
              <a:defRPr/>
            </a:pPr>
            <a:r>
              <a:rPr lang="en-US" sz="2400" dirty="0"/>
              <a:t>Identify and clearly describe the facts</a:t>
            </a:r>
          </a:p>
          <a:p>
            <a:pPr marL="914400" lvl="1" indent="-457200">
              <a:spcAft>
                <a:spcPct val="45000"/>
              </a:spcAft>
              <a:buFontTx/>
              <a:buAutoNum type="arabicPeriod"/>
              <a:defRPr/>
            </a:pPr>
            <a:r>
              <a:rPr lang="en-US" sz="2400" dirty="0"/>
              <a:t>Define the conflict or dilemma and identify the higher-order values involved.</a:t>
            </a:r>
          </a:p>
          <a:p>
            <a:pPr marL="914400" lvl="1" indent="-457200">
              <a:spcAft>
                <a:spcPct val="45000"/>
              </a:spcAft>
              <a:buFontTx/>
              <a:buAutoNum type="arabicPeriod"/>
              <a:defRPr/>
            </a:pPr>
            <a:r>
              <a:rPr lang="en-US" sz="2400" dirty="0"/>
              <a:t>Identify the stakeholders</a:t>
            </a:r>
          </a:p>
          <a:p>
            <a:pPr marL="914400" lvl="1" indent="-457200">
              <a:spcAft>
                <a:spcPct val="45000"/>
              </a:spcAft>
              <a:buFontTx/>
              <a:buAutoNum type="arabicPeriod"/>
              <a:defRPr/>
            </a:pPr>
            <a:r>
              <a:rPr lang="en-US" sz="2400" dirty="0"/>
              <a:t>Identify the options that you can reasonably take</a:t>
            </a:r>
          </a:p>
          <a:p>
            <a:pPr marL="914400" lvl="1" indent="-457200">
              <a:spcAft>
                <a:spcPct val="45000"/>
              </a:spcAft>
              <a:buFontTx/>
              <a:buAutoNum type="arabicPeriod"/>
              <a:defRPr/>
            </a:pPr>
            <a:r>
              <a:rPr lang="en-US" sz="2400" dirty="0"/>
              <a:t>Identify the potential consequences of your options.</a:t>
            </a:r>
          </a:p>
          <a:p>
            <a:endParaRPr lang="en-US" dirty="0"/>
          </a:p>
        </p:txBody>
      </p:sp>
      <p:sp>
        <p:nvSpPr>
          <p:cNvPr id="4" name="Slide Number Placeholder 3"/>
          <p:cNvSpPr>
            <a:spLocks noGrp="1"/>
          </p:cNvSpPr>
          <p:nvPr>
            <p:ph type="sldNum" sz="quarter" idx="12"/>
          </p:nvPr>
        </p:nvSpPr>
        <p:spPr/>
        <p:txBody>
          <a:bodyPr/>
          <a:lstStyle/>
          <a:p>
            <a:fld id="{B7CBDEE6-AD54-4DB7-8F93-7DE5909EBAB5}" type="slidenum">
              <a:rPr lang="en-US" smtClean="0"/>
              <a:t>17</a:t>
            </a:fld>
            <a:endParaRPr lang="en-US"/>
          </a:p>
        </p:txBody>
      </p:sp>
    </p:spTree>
    <p:extLst>
      <p:ext uri="{BB962C8B-B14F-4D97-AF65-F5344CB8AC3E}">
        <p14:creationId xmlns:p14="http://schemas.microsoft.com/office/powerpoint/2010/main" val="7112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ethical analysis...</a:t>
            </a:r>
          </a:p>
        </p:txBody>
      </p:sp>
      <p:sp>
        <p:nvSpPr>
          <p:cNvPr id="3" name="Content Placeholder 2"/>
          <p:cNvSpPr>
            <a:spLocks noGrp="1"/>
          </p:cNvSpPr>
          <p:nvPr>
            <p:ph idx="1"/>
          </p:nvPr>
        </p:nvSpPr>
        <p:spPr>
          <a:xfrm>
            <a:off x="579548" y="2490135"/>
            <a:ext cx="7946265" cy="3910665"/>
          </a:xfrm>
        </p:spPr>
        <p:txBody>
          <a:bodyPr>
            <a:noAutofit/>
          </a:bodyPr>
          <a:lstStyle/>
          <a:p>
            <a:pPr marL="914400" lvl="1" indent="-457200" algn="just">
              <a:spcAft>
                <a:spcPct val="45000"/>
              </a:spcAft>
              <a:buFontTx/>
              <a:buAutoNum type="arabicPeriod"/>
              <a:defRPr/>
            </a:pPr>
            <a:r>
              <a:rPr lang="en-US" sz="2800" dirty="0">
                <a:solidFill>
                  <a:srgbClr val="C00000"/>
                </a:solidFill>
              </a:rPr>
              <a:t>Identify and clearly describe the facts</a:t>
            </a:r>
          </a:p>
          <a:p>
            <a:pPr lvl="1" algn="just">
              <a:spcAft>
                <a:spcPct val="45000"/>
              </a:spcAft>
              <a:defRPr/>
            </a:pPr>
            <a:r>
              <a:rPr lang="en-US" sz="2800" dirty="0"/>
              <a:t>Find out </a:t>
            </a:r>
            <a:r>
              <a:rPr lang="en-US" sz="2800" dirty="0">
                <a:solidFill>
                  <a:srgbClr val="FF0000"/>
                </a:solidFill>
              </a:rPr>
              <a:t>who did </a:t>
            </a:r>
            <a:r>
              <a:rPr lang="en-US" sz="2800" dirty="0"/>
              <a:t>what </a:t>
            </a:r>
            <a:r>
              <a:rPr lang="en-US" sz="2800" dirty="0">
                <a:solidFill>
                  <a:srgbClr val="FF0000"/>
                </a:solidFill>
              </a:rPr>
              <a:t>to whom, and where, when, </a:t>
            </a:r>
            <a:r>
              <a:rPr lang="en-US" sz="2800" dirty="0"/>
              <a:t>and </a:t>
            </a:r>
            <a:r>
              <a:rPr lang="en-US" sz="2800" dirty="0">
                <a:solidFill>
                  <a:srgbClr val="FF0000"/>
                </a:solidFill>
              </a:rPr>
              <a:t>how</a:t>
            </a:r>
            <a:r>
              <a:rPr lang="en-US" sz="2800" dirty="0"/>
              <a:t>.</a:t>
            </a:r>
          </a:p>
          <a:p>
            <a:pPr lvl="1" algn="just">
              <a:spcAft>
                <a:spcPct val="45000"/>
              </a:spcAft>
              <a:defRPr/>
            </a:pPr>
            <a:r>
              <a:rPr lang="en-US" sz="2800" dirty="0"/>
              <a:t>It also helps to get the </a:t>
            </a:r>
            <a:r>
              <a:rPr lang="en-US" sz="2800" dirty="0">
                <a:solidFill>
                  <a:srgbClr val="FF0000"/>
                </a:solidFill>
              </a:rPr>
              <a:t>opposing parties </a:t>
            </a:r>
            <a:r>
              <a:rPr lang="en-US" sz="2800" dirty="0"/>
              <a:t>involved in an ethical dilemma or conflict  to agree on the facts. </a:t>
            </a:r>
          </a:p>
        </p:txBody>
      </p:sp>
      <p:sp>
        <p:nvSpPr>
          <p:cNvPr id="4" name="Slide Number Placeholder 3"/>
          <p:cNvSpPr>
            <a:spLocks noGrp="1"/>
          </p:cNvSpPr>
          <p:nvPr>
            <p:ph type="sldNum" sz="quarter" idx="12"/>
          </p:nvPr>
        </p:nvSpPr>
        <p:spPr/>
        <p:txBody>
          <a:bodyPr/>
          <a:lstStyle/>
          <a:p>
            <a:fld id="{B7CBDEE6-AD54-4DB7-8F93-7DE5909EBAB5}" type="slidenum">
              <a:rPr lang="en-US" smtClean="0"/>
              <a:t>18</a:t>
            </a:fld>
            <a:endParaRPr lang="en-US"/>
          </a:p>
        </p:txBody>
      </p:sp>
    </p:spTree>
    <p:extLst>
      <p:ext uri="{BB962C8B-B14F-4D97-AF65-F5344CB8AC3E}">
        <p14:creationId xmlns:p14="http://schemas.microsoft.com/office/powerpoint/2010/main" val="1634834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ethical analysis...</a:t>
            </a:r>
          </a:p>
        </p:txBody>
      </p:sp>
      <p:sp>
        <p:nvSpPr>
          <p:cNvPr id="3" name="Content Placeholder 2"/>
          <p:cNvSpPr>
            <a:spLocks noGrp="1"/>
          </p:cNvSpPr>
          <p:nvPr>
            <p:ph idx="1"/>
          </p:nvPr>
        </p:nvSpPr>
        <p:spPr>
          <a:xfrm>
            <a:off x="631064" y="2490135"/>
            <a:ext cx="7804597" cy="3444997"/>
          </a:xfrm>
        </p:spPr>
        <p:txBody>
          <a:bodyPr>
            <a:normAutofit/>
          </a:bodyPr>
          <a:lstStyle/>
          <a:p>
            <a:pPr marL="457200" lvl="1" indent="0" algn="just">
              <a:spcAft>
                <a:spcPct val="45000"/>
              </a:spcAft>
              <a:buNone/>
              <a:defRPr/>
            </a:pPr>
            <a:r>
              <a:rPr lang="en-US" sz="2800" dirty="0">
                <a:solidFill>
                  <a:srgbClr val="C00000"/>
                </a:solidFill>
              </a:rPr>
              <a:t>2. Define the conflict or dilemma and identify the higher-order values involved.</a:t>
            </a:r>
          </a:p>
          <a:p>
            <a:pPr lvl="1" algn="just">
              <a:spcAft>
                <a:spcPct val="45000"/>
              </a:spcAft>
              <a:defRPr/>
            </a:pPr>
            <a:r>
              <a:rPr lang="en-US" sz="2800" dirty="0"/>
              <a:t>Ethical, social, and political issues always reference </a:t>
            </a:r>
            <a:r>
              <a:rPr lang="en-US" sz="2800" dirty="0">
                <a:solidFill>
                  <a:srgbClr val="FF0000"/>
                </a:solidFill>
              </a:rPr>
              <a:t>higher values.</a:t>
            </a:r>
          </a:p>
          <a:p>
            <a:pPr lvl="1" algn="just">
              <a:spcAft>
                <a:spcPct val="45000"/>
              </a:spcAft>
              <a:defRPr/>
            </a:pPr>
            <a:r>
              <a:rPr lang="en-US" sz="2800" dirty="0">
                <a:solidFill>
                  <a:srgbClr val="C00000"/>
                </a:solidFill>
              </a:rPr>
              <a:t>example:-</a:t>
            </a:r>
            <a:r>
              <a:rPr lang="en-US" sz="2800" dirty="0"/>
              <a:t>freedom, privacy, protection of property, and the free enterprise system.</a:t>
            </a:r>
          </a:p>
          <a:p>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19</a:t>
            </a:fld>
            <a:endParaRPr lang="en-US"/>
          </a:p>
        </p:txBody>
      </p:sp>
    </p:spTree>
    <p:extLst>
      <p:ext uri="{BB962C8B-B14F-4D97-AF65-F5344CB8AC3E}">
        <p14:creationId xmlns:p14="http://schemas.microsoft.com/office/powerpoint/2010/main" val="908822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ethical analysis...</a:t>
            </a:r>
          </a:p>
        </p:txBody>
      </p:sp>
      <p:sp>
        <p:nvSpPr>
          <p:cNvPr id="3" name="Content Placeholder 2"/>
          <p:cNvSpPr>
            <a:spLocks noGrp="1"/>
          </p:cNvSpPr>
          <p:nvPr>
            <p:ph idx="1"/>
          </p:nvPr>
        </p:nvSpPr>
        <p:spPr>
          <a:xfrm>
            <a:off x="618186" y="2490135"/>
            <a:ext cx="7662929" cy="3936423"/>
          </a:xfrm>
        </p:spPr>
        <p:txBody>
          <a:bodyPr>
            <a:normAutofit/>
          </a:bodyPr>
          <a:lstStyle/>
          <a:p>
            <a:pPr marL="457200" lvl="1" indent="0" algn="just">
              <a:spcAft>
                <a:spcPct val="45000"/>
              </a:spcAft>
              <a:buNone/>
              <a:defRPr/>
            </a:pPr>
            <a:r>
              <a:rPr lang="en-US" altLang="en-US" sz="2400" dirty="0">
                <a:solidFill>
                  <a:srgbClr val="C00000"/>
                </a:solidFill>
              </a:rPr>
              <a:t>3. Identify the stakeholders: </a:t>
            </a:r>
            <a:r>
              <a:rPr lang="en-US" altLang="en-US" sz="2400" dirty="0"/>
              <a:t>Every ethical, social, and political issue has stakeholders: </a:t>
            </a:r>
          </a:p>
          <a:p>
            <a:pPr lvl="1" algn="just">
              <a:spcAft>
                <a:spcPct val="45000"/>
              </a:spcAft>
              <a:defRPr/>
            </a:pPr>
            <a:r>
              <a:rPr lang="en-US" altLang="en-US" sz="2400" dirty="0">
                <a:solidFill>
                  <a:srgbClr val="00B0F0"/>
                </a:solidFill>
              </a:rPr>
              <a:t>players in the game who have an interest in the outcome</a:t>
            </a:r>
            <a:r>
              <a:rPr lang="en-US" altLang="en-US" sz="2400" dirty="0"/>
              <a:t>, </a:t>
            </a:r>
            <a:r>
              <a:rPr lang="en-US" altLang="en-US" sz="2400" dirty="0">
                <a:solidFill>
                  <a:srgbClr val="C00000"/>
                </a:solidFill>
              </a:rPr>
              <a:t>who have invested in the situation</a:t>
            </a:r>
            <a:r>
              <a:rPr lang="en-US" altLang="en-US" sz="2400" dirty="0"/>
              <a:t>, and usually who have vocal opinions. </a:t>
            </a:r>
          </a:p>
          <a:p>
            <a:pPr lvl="1" algn="just">
              <a:spcAft>
                <a:spcPct val="45000"/>
              </a:spcAft>
              <a:defRPr/>
            </a:pPr>
            <a:r>
              <a:rPr lang="en-US" altLang="en-US" sz="2400" dirty="0"/>
              <a:t>Find out the identity of these groups and what they want. </a:t>
            </a:r>
          </a:p>
          <a:p>
            <a:pPr lvl="1" algn="just">
              <a:spcAft>
                <a:spcPct val="45000"/>
              </a:spcAft>
              <a:defRPr/>
            </a:pPr>
            <a:r>
              <a:rPr lang="en-US" altLang="en-US" sz="2400" dirty="0"/>
              <a:t>This will be useful later when designing a solution.</a:t>
            </a:r>
          </a:p>
          <a:p>
            <a:endParaRPr lang="en-US" dirty="0"/>
          </a:p>
        </p:txBody>
      </p:sp>
      <p:sp>
        <p:nvSpPr>
          <p:cNvPr id="4" name="Slide Number Placeholder 3"/>
          <p:cNvSpPr>
            <a:spLocks noGrp="1"/>
          </p:cNvSpPr>
          <p:nvPr>
            <p:ph type="sldNum" sz="quarter" idx="12"/>
          </p:nvPr>
        </p:nvSpPr>
        <p:spPr/>
        <p:txBody>
          <a:bodyPr/>
          <a:lstStyle/>
          <a:p>
            <a:fld id="{B7CBDEE6-AD54-4DB7-8F93-7DE5909EBAB5}" type="slidenum">
              <a:rPr lang="en-US" smtClean="0"/>
              <a:t>20</a:t>
            </a:fld>
            <a:endParaRPr lang="en-US"/>
          </a:p>
        </p:txBody>
      </p:sp>
    </p:spTree>
    <p:extLst>
      <p:ext uri="{BB962C8B-B14F-4D97-AF65-F5344CB8AC3E}">
        <p14:creationId xmlns:p14="http://schemas.microsoft.com/office/powerpoint/2010/main" val="4253103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ethical analysis...</a:t>
            </a:r>
          </a:p>
        </p:txBody>
      </p:sp>
      <p:sp>
        <p:nvSpPr>
          <p:cNvPr id="3" name="Content Placeholder 2"/>
          <p:cNvSpPr>
            <a:spLocks noGrp="1"/>
          </p:cNvSpPr>
          <p:nvPr>
            <p:ph idx="1"/>
          </p:nvPr>
        </p:nvSpPr>
        <p:spPr>
          <a:xfrm>
            <a:off x="656823" y="2490135"/>
            <a:ext cx="7907628" cy="3444997"/>
          </a:xfrm>
        </p:spPr>
        <p:txBody>
          <a:bodyPr>
            <a:noAutofit/>
          </a:bodyPr>
          <a:lstStyle/>
          <a:p>
            <a:pPr marL="457200" lvl="1" indent="0">
              <a:spcAft>
                <a:spcPct val="45000"/>
              </a:spcAft>
              <a:buNone/>
              <a:defRPr/>
            </a:pPr>
            <a:r>
              <a:rPr lang="en-US" altLang="en-US" sz="2800" dirty="0">
                <a:solidFill>
                  <a:srgbClr val="C00000"/>
                </a:solidFill>
              </a:rPr>
              <a:t>4. Identify the options that you can reasonably take</a:t>
            </a:r>
          </a:p>
          <a:p>
            <a:pPr lvl="1">
              <a:spcAft>
                <a:spcPct val="45000"/>
              </a:spcAft>
              <a:defRPr/>
            </a:pPr>
            <a:r>
              <a:rPr lang="en-US" altLang="en-US" sz="2800" dirty="0"/>
              <a:t>You may find that </a:t>
            </a:r>
            <a:r>
              <a:rPr lang="en-US" altLang="en-US" sz="2800" dirty="0">
                <a:solidFill>
                  <a:srgbClr val="FF0000"/>
                </a:solidFill>
              </a:rPr>
              <a:t>none of the options satisfy all </a:t>
            </a:r>
            <a:r>
              <a:rPr lang="en-US" altLang="en-US" sz="2800" dirty="0"/>
              <a:t>the interests involved, but that </a:t>
            </a:r>
            <a:r>
              <a:rPr lang="en-US" altLang="en-US" sz="2800" dirty="0">
                <a:solidFill>
                  <a:srgbClr val="FF0000"/>
                </a:solidFill>
              </a:rPr>
              <a:t>some options </a:t>
            </a:r>
            <a:r>
              <a:rPr lang="en-US" altLang="en-US" sz="2800" dirty="0"/>
              <a:t>do a </a:t>
            </a:r>
            <a:r>
              <a:rPr lang="en-US" altLang="en-US" sz="2800" dirty="0">
                <a:solidFill>
                  <a:srgbClr val="FF0000"/>
                </a:solidFill>
              </a:rPr>
              <a:t>better job than others. </a:t>
            </a:r>
          </a:p>
          <a:p>
            <a:pPr lvl="1">
              <a:spcAft>
                <a:spcPct val="45000"/>
              </a:spcAft>
              <a:defRPr/>
            </a:pPr>
            <a:r>
              <a:rPr lang="en-US" altLang="en-US" sz="2800" dirty="0"/>
              <a:t>Sometimes arriving at a good or ethical solution may not always be a balancing of consequences to stakeholders.</a:t>
            </a:r>
            <a:endParaRPr lang="en-US" altLang="en-US" sz="2800" dirty="0">
              <a:solidFill>
                <a:srgbClr val="C00000"/>
              </a:solidFill>
            </a:endParaRPr>
          </a:p>
          <a:p>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21</a:t>
            </a:fld>
            <a:endParaRPr lang="en-US"/>
          </a:p>
        </p:txBody>
      </p:sp>
    </p:spTree>
    <p:extLst>
      <p:ext uri="{BB962C8B-B14F-4D97-AF65-F5344CB8AC3E}">
        <p14:creationId xmlns:p14="http://schemas.microsoft.com/office/powerpoint/2010/main" val="1921363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ethical analysis...</a:t>
            </a:r>
          </a:p>
        </p:txBody>
      </p:sp>
      <p:sp>
        <p:nvSpPr>
          <p:cNvPr id="3" name="Content Placeholder 2"/>
          <p:cNvSpPr>
            <a:spLocks noGrp="1"/>
          </p:cNvSpPr>
          <p:nvPr>
            <p:ph idx="1"/>
          </p:nvPr>
        </p:nvSpPr>
        <p:spPr>
          <a:xfrm>
            <a:off x="643944" y="2490135"/>
            <a:ext cx="7753081" cy="3749798"/>
          </a:xfrm>
        </p:spPr>
        <p:txBody>
          <a:bodyPr>
            <a:noAutofit/>
          </a:bodyPr>
          <a:lstStyle/>
          <a:p>
            <a:pPr marL="457200" lvl="1" indent="0" algn="just">
              <a:spcAft>
                <a:spcPct val="45000"/>
              </a:spcAft>
              <a:buNone/>
              <a:defRPr/>
            </a:pPr>
            <a:r>
              <a:rPr lang="en-US" altLang="en-US" sz="2600" dirty="0">
                <a:solidFill>
                  <a:srgbClr val="C00000"/>
                </a:solidFill>
              </a:rPr>
              <a:t>5. Identify the potential consequences of your options.</a:t>
            </a:r>
          </a:p>
          <a:p>
            <a:pPr lvl="1" algn="just">
              <a:spcAft>
                <a:spcPct val="45000"/>
              </a:spcAft>
              <a:defRPr/>
            </a:pPr>
            <a:r>
              <a:rPr lang="en-US" altLang="en-US" sz="2600" dirty="0"/>
              <a:t>Some options may be ethically correct but disastrous from other points of view. </a:t>
            </a:r>
          </a:p>
          <a:p>
            <a:pPr lvl="1" algn="just">
              <a:spcAft>
                <a:spcPct val="45000"/>
              </a:spcAft>
              <a:defRPr/>
            </a:pPr>
            <a:r>
              <a:rPr lang="en-US" altLang="en-US" sz="2600" dirty="0"/>
              <a:t>Other options may work in one instance but not in other similar instances. </a:t>
            </a:r>
          </a:p>
          <a:p>
            <a:pPr lvl="1" algn="just">
              <a:spcAft>
                <a:spcPct val="45000"/>
              </a:spcAft>
              <a:defRPr/>
            </a:pPr>
            <a:r>
              <a:rPr lang="en-US" altLang="en-US" sz="2600" dirty="0"/>
              <a:t>Always ask yourself, “What if I choose this option consistently over time?”</a:t>
            </a:r>
            <a:endParaRPr lang="en-US" altLang="en-US" sz="2600" dirty="0">
              <a:solidFill>
                <a:srgbClr val="C00000"/>
              </a:solidFill>
            </a:endParaRPr>
          </a:p>
          <a:p>
            <a:endParaRPr lang="en-US" sz="2600" dirty="0"/>
          </a:p>
        </p:txBody>
      </p:sp>
      <p:sp>
        <p:nvSpPr>
          <p:cNvPr id="4" name="Slide Number Placeholder 3"/>
          <p:cNvSpPr>
            <a:spLocks noGrp="1"/>
          </p:cNvSpPr>
          <p:nvPr>
            <p:ph type="sldNum" sz="quarter" idx="12"/>
          </p:nvPr>
        </p:nvSpPr>
        <p:spPr/>
        <p:txBody>
          <a:bodyPr/>
          <a:lstStyle/>
          <a:p>
            <a:fld id="{B7CBDEE6-AD54-4DB7-8F93-7DE5909EBAB5}" type="slidenum">
              <a:rPr lang="en-US" smtClean="0"/>
              <a:t>22</a:t>
            </a:fld>
            <a:endParaRPr lang="en-US"/>
          </a:p>
        </p:txBody>
      </p:sp>
    </p:spTree>
    <p:extLst>
      <p:ext uri="{BB962C8B-B14F-4D97-AF65-F5344CB8AC3E}">
        <p14:creationId xmlns:p14="http://schemas.microsoft.com/office/powerpoint/2010/main" val="1905909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7" y="1482008"/>
            <a:ext cx="6798734" cy="681643"/>
          </a:xfrm>
        </p:spPr>
        <p:txBody>
          <a:bodyPr>
            <a:normAutofit fontScale="90000"/>
          </a:bodyPr>
          <a:lstStyle/>
          <a:p>
            <a:r>
              <a:rPr lang="en-US" altLang="en-US" b="1" dirty="0">
                <a:solidFill>
                  <a:srgbClr val="00B0F0"/>
                </a:solidFill>
              </a:rPr>
              <a:t>Internet Challenges to Privacy</a:t>
            </a:r>
            <a:br>
              <a:rPr lang="en-US" altLang="en-US" b="1" dirty="0">
                <a:solidFill>
                  <a:srgbClr val="00B0F0"/>
                </a:solidFill>
              </a:rPr>
            </a:br>
            <a:endParaRPr lang="en-US" dirty="0"/>
          </a:p>
        </p:txBody>
      </p:sp>
      <p:sp>
        <p:nvSpPr>
          <p:cNvPr id="3" name="Content Placeholder 2"/>
          <p:cNvSpPr>
            <a:spLocks noGrp="1"/>
          </p:cNvSpPr>
          <p:nvPr>
            <p:ph idx="1"/>
          </p:nvPr>
        </p:nvSpPr>
        <p:spPr>
          <a:xfrm>
            <a:off x="579548" y="2490135"/>
            <a:ext cx="7792665" cy="3872028"/>
          </a:xfrm>
        </p:spPr>
        <p:txBody>
          <a:bodyPr>
            <a:normAutofit fontScale="92500" lnSpcReduction="20000"/>
          </a:bodyPr>
          <a:lstStyle/>
          <a:p>
            <a:pPr marL="457200" lvl="1" indent="0">
              <a:spcAft>
                <a:spcPct val="25000"/>
              </a:spcAft>
              <a:buNone/>
              <a:defRPr/>
            </a:pPr>
            <a:r>
              <a:rPr lang="en-US" sz="2800" b="1" dirty="0">
                <a:solidFill>
                  <a:srgbClr val="00B0F0"/>
                </a:solidFill>
              </a:rPr>
              <a:t>Privacy</a:t>
            </a:r>
          </a:p>
          <a:p>
            <a:pPr marL="1314450" lvl="2" indent="-457200" algn="just">
              <a:spcAft>
                <a:spcPct val="25000"/>
              </a:spcAft>
              <a:buFontTx/>
              <a:buChar char="•"/>
              <a:defRPr/>
            </a:pPr>
            <a:r>
              <a:rPr lang="en-US" sz="2800" dirty="0"/>
              <a:t>Claim of individuals to be </a:t>
            </a:r>
            <a:r>
              <a:rPr lang="en-US" sz="2800" dirty="0">
                <a:solidFill>
                  <a:srgbClr val="FF0000"/>
                </a:solidFill>
              </a:rPr>
              <a:t>left alone, </a:t>
            </a:r>
            <a:r>
              <a:rPr lang="en-US" sz="2800" dirty="0"/>
              <a:t>free from </a:t>
            </a:r>
            <a:r>
              <a:rPr lang="en-US" sz="2800" dirty="0">
                <a:solidFill>
                  <a:srgbClr val="FF0000"/>
                </a:solidFill>
              </a:rPr>
              <a:t>surveillance</a:t>
            </a:r>
            <a:r>
              <a:rPr lang="en-US" sz="2800" dirty="0"/>
              <a:t> or </a:t>
            </a:r>
            <a:r>
              <a:rPr lang="en-US" sz="2800" dirty="0">
                <a:solidFill>
                  <a:srgbClr val="FF0000"/>
                </a:solidFill>
              </a:rPr>
              <a:t>interference from other individuals, </a:t>
            </a:r>
            <a:r>
              <a:rPr lang="en-US" sz="2800" dirty="0"/>
              <a:t>organizations, or the state. </a:t>
            </a:r>
          </a:p>
          <a:p>
            <a:pPr marL="1314450" lvl="2" indent="-457200" algn="just">
              <a:spcAft>
                <a:spcPct val="25000"/>
              </a:spcAft>
              <a:buFontTx/>
              <a:buChar char="•"/>
              <a:defRPr/>
            </a:pPr>
            <a:r>
              <a:rPr lang="en-US" sz="2800" dirty="0"/>
              <a:t>Ability to control </a:t>
            </a:r>
            <a:r>
              <a:rPr lang="en-US" sz="2800" dirty="0">
                <a:solidFill>
                  <a:srgbClr val="FF0000"/>
                </a:solidFill>
              </a:rPr>
              <a:t>information about yourself.</a:t>
            </a:r>
          </a:p>
          <a:p>
            <a:pPr marL="857250" lvl="2" indent="0" algn="just">
              <a:spcAft>
                <a:spcPct val="25000"/>
              </a:spcAft>
              <a:buNone/>
              <a:defRPr/>
            </a:pPr>
            <a:r>
              <a:rPr lang="en-US" sz="2800" dirty="0">
                <a:solidFill>
                  <a:srgbClr val="FF0000"/>
                </a:solidFill>
              </a:rPr>
              <a:t>E.g. let you will search books that assist me on exam on  google after a while there are many options comes to in your website based on your search history with out your consent…this violates the rights of free from surveillance.</a:t>
            </a:r>
          </a:p>
        </p:txBody>
      </p:sp>
      <p:sp>
        <p:nvSpPr>
          <p:cNvPr id="4" name="Slide Number Placeholder 3"/>
          <p:cNvSpPr>
            <a:spLocks noGrp="1"/>
          </p:cNvSpPr>
          <p:nvPr>
            <p:ph type="sldNum" sz="quarter" idx="12"/>
          </p:nvPr>
        </p:nvSpPr>
        <p:spPr/>
        <p:txBody>
          <a:bodyPr/>
          <a:lstStyle/>
          <a:p>
            <a:fld id="{B7CBDEE6-AD54-4DB7-8F93-7DE5909EBAB5}" type="slidenum">
              <a:rPr lang="en-US" smtClean="0"/>
              <a:t>23</a:t>
            </a:fld>
            <a:endParaRPr lang="en-US"/>
          </a:p>
        </p:txBody>
      </p:sp>
    </p:spTree>
    <p:extLst>
      <p:ext uri="{BB962C8B-B14F-4D97-AF65-F5344CB8AC3E}">
        <p14:creationId xmlns:p14="http://schemas.microsoft.com/office/powerpoint/2010/main" val="206865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160867"/>
            <a:ext cx="6798734" cy="1303867"/>
          </a:xfrm>
        </p:spPr>
        <p:txBody>
          <a:bodyPr>
            <a:normAutofit fontScale="90000"/>
          </a:bodyPr>
          <a:lstStyle/>
          <a:p>
            <a:r>
              <a:rPr lang="en-US" altLang="en-US" b="1" dirty="0">
                <a:solidFill>
                  <a:srgbClr val="00B0F0"/>
                </a:solidFill>
              </a:rPr>
              <a:t>Internet Challenges to Privacy...</a:t>
            </a:r>
            <a:endParaRPr lang="en-US" dirty="0"/>
          </a:p>
        </p:txBody>
      </p:sp>
      <p:sp>
        <p:nvSpPr>
          <p:cNvPr id="3" name="Content Placeholder 2"/>
          <p:cNvSpPr>
            <a:spLocks noGrp="1"/>
          </p:cNvSpPr>
          <p:nvPr>
            <p:ph idx="1"/>
          </p:nvPr>
        </p:nvSpPr>
        <p:spPr>
          <a:xfrm>
            <a:off x="1176864" y="2490135"/>
            <a:ext cx="7117129" cy="3809997"/>
          </a:xfrm>
        </p:spPr>
        <p:txBody>
          <a:bodyPr>
            <a:normAutofit fontScale="77500" lnSpcReduction="20000"/>
          </a:bodyPr>
          <a:lstStyle/>
          <a:p>
            <a:pPr marL="914400" lvl="1" indent="-457200">
              <a:spcAft>
                <a:spcPct val="25000"/>
              </a:spcAft>
              <a:buFontTx/>
              <a:buChar char="•"/>
              <a:defRPr/>
            </a:pPr>
            <a:r>
              <a:rPr lang="en-US" sz="2800" b="1" dirty="0">
                <a:solidFill>
                  <a:srgbClr val="C00000"/>
                </a:solidFill>
              </a:rPr>
              <a:t>Cookies</a:t>
            </a:r>
          </a:p>
          <a:p>
            <a:pPr marL="1314450" lvl="2" indent="-457200">
              <a:spcAft>
                <a:spcPct val="25000"/>
              </a:spcAft>
              <a:buFont typeface="Wingdings" panose="05000000000000000000" pitchFamily="2" charset="2"/>
              <a:buChar char="ü"/>
              <a:defRPr/>
            </a:pPr>
            <a:r>
              <a:rPr lang="en-US" sz="2800" dirty="0">
                <a:solidFill>
                  <a:srgbClr val="000000"/>
                </a:solidFill>
              </a:rPr>
              <a:t>Tiny files downloaded by Web site to visitor’s hard drive</a:t>
            </a:r>
          </a:p>
          <a:p>
            <a:pPr marL="1314450" lvl="2" indent="-457200">
              <a:spcAft>
                <a:spcPct val="25000"/>
              </a:spcAft>
              <a:buFont typeface="Wingdings" panose="05000000000000000000" pitchFamily="2" charset="2"/>
              <a:buChar char="ü"/>
              <a:defRPr/>
            </a:pPr>
            <a:r>
              <a:rPr lang="en-US" sz="2800" dirty="0">
                <a:solidFill>
                  <a:srgbClr val="000000"/>
                </a:solidFill>
              </a:rPr>
              <a:t>Identify visitor’s browser and track visits to site</a:t>
            </a:r>
          </a:p>
          <a:p>
            <a:pPr marL="1314450" lvl="2" indent="-457200">
              <a:spcAft>
                <a:spcPct val="25000"/>
              </a:spcAft>
              <a:buFont typeface="Wingdings" panose="05000000000000000000" pitchFamily="2" charset="2"/>
              <a:buChar char="ü"/>
              <a:defRPr/>
            </a:pPr>
            <a:r>
              <a:rPr lang="en-US" sz="2800" dirty="0">
                <a:solidFill>
                  <a:srgbClr val="000000"/>
                </a:solidFill>
              </a:rPr>
              <a:t>Allow Web sites to develop profiles on visitors</a:t>
            </a:r>
          </a:p>
          <a:p>
            <a:pPr marL="0" indent="0">
              <a:buNone/>
            </a:pPr>
            <a:r>
              <a:rPr lang="en-US" sz="2800" dirty="0"/>
              <a:t>e.g. if you was ordered online goods from Amazon earlier the cookies save the data the for the next day if you will visit the page the website says welcome  the it will list the choices of you that are related with your previous choice so this implies the cookies track your status quo on the website.</a:t>
            </a:r>
          </a:p>
        </p:txBody>
      </p:sp>
      <p:sp>
        <p:nvSpPr>
          <p:cNvPr id="4" name="Slide Number Placeholder 3"/>
          <p:cNvSpPr>
            <a:spLocks noGrp="1"/>
          </p:cNvSpPr>
          <p:nvPr>
            <p:ph type="sldNum" sz="quarter" idx="12"/>
          </p:nvPr>
        </p:nvSpPr>
        <p:spPr/>
        <p:txBody>
          <a:bodyPr/>
          <a:lstStyle/>
          <a:p>
            <a:fld id="{B7CBDEE6-AD54-4DB7-8F93-7DE5909EBAB5}" type="slidenum">
              <a:rPr lang="en-US" smtClean="0"/>
              <a:t>24</a:t>
            </a:fld>
            <a:endParaRPr lang="en-US"/>
          </a:p>
        </p:txBody>
      </p:sp>
    </p:spTree>
    <p:extLst>
      <p:ext uri="{BB962C8B-B14F-4D97-AF65-F5344CB8AC3E}">
        <p14:creationId xmlns:p14="http://schemas.microsoft.com/office/powerpoint/2010/main" val="518038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357" y="1288824"/>
            <a:ext cx="6798734" cy="1303867"/>
          </a:xfrm>
        </p:spPr>
        <p:txBody>
          <a:bodyPr>
            <a:normAutofit fontScale="90000"/>
          </a:bodyPr>
          <a:lstStyle/>
          <a:p>
            <a:r>
              <a:rPr lang="en-US" altLang="en-US" b="1" dirty="0">
                <a:solidFill>
                  <a:srgbClr val="00B0F0"/>
                </a:solidFill>
              </a:rPr>
              <a:t>Internet Challenges to Privacy...</a:t>
            </a:r>
            <a:br>
              <a:rPr lang="en-US" altLang="en-US" b="1" dirty="0">
                <a:solidFill>
                  <a:srgbClr val="00B0F0"/>
                </a:solidFill>
              </a:rPr>
            </a:br>
            <a:endParaRPr lang="en-US" dirty="0"/>
          </a:p>
        </p:txBody>
      </p:sp>
      <p:sp>
        <p:nvSpPr>
          <p:cNvPr id="3" name="Content Placeholder 2"/>
          <p:cNvSpPr>
            <a:spLocks noGrp="1"/>
          </p:cNvSpPr>
          <p:nvPr>
            <p:ph idx="1"/>
          </p:nvPr>
        </p:nvSpPr>
        <p:spPr>
          <a:xfrm>
            <a:off x="476519" y="2393662"/>
            <a:ext cx="7920506" cy="3846271"/>
          </a:xfrm>
        </p:spPr>
        <p:txBody>
          <a:bodyPr>
            <a:noAutofit/>
          </a:bodyPr>
          <a:lstStyle/>
          <a:p>
            <a:pPr algn="just"/>
            <a:r>
              <a:rPr lang="en-US" b="1" dirty="0">
                <a:solidFill>
                  <a:srgbClr val="C00000"/>
                </a:solidFill>
              </a:rPr>
              <a:t>Web bugs (</a:t>
            </a:r>
            <a:r>
              <a:rPr lang="en-US" dirty="0"/>
              <a:t>Web beacons </a:t>
            </a:r>
            <a:r>
              <a:rPr lang="en-US" b="1" dirty="0">
                <a:solidFill>
                  <a:srgbClr val="C00000"/>
                </a:solidFill>
              </a:rPr>
              <a:t>): </a:t>
            </a:r>
            <a:r>
              <a:rPr lang="en-US" b="1" dirty="0">
                <a:solidFill>
                  <a:srgbClr val="000000"/>
                </a:solidFill>
              </a:rPr>
              <a:t>t</a:t>
            </a:r>
            <a:r>
              <a:rPr lang="en-US" dirty="0">
                <a:solidFill>
                  <a:srgbClr val="000000"/>
                </a:solidFill>
              </a:rPr>
              <a:t>iny graphics embedded in </a:t>
            </a:r>
            <a:r>
              <a:rPr lang="en-US" dirty="0">
                <a:solidFill>
                  <a:srgbClr val="FF0000"/>
                </a:solidFill>
              </a:rPr>
              <a:t>e-mail</a:t>
            </a:r>
            <a:r>
              <a:rPr lang="en-US" dirty="0">
                <a:solidFill>
                  <a:srgbClr val="000000"/>
                </a:solidFill>
              </a:rPr>
              <a:t> messages and </a:t>
            </a:r>
            <a:r>
              <a:rPr lang="en-US" dirty="0">
                <a:solidFill>
                  <a:srgbClr val="FF0000"/>
                </a:solidFill>
              </a:rPr>
              <a:t>Web pages.</a:t>
            </a:r>
          </a:p>
          <a:p>
            <a:pPr marL="1314450" lvl="2" indent="-457200" algn="just">
              <a:spcAft>
                <a:spcPct val="25000"/>
              </a:spcAft>
              <a:buFont typeface="Wingdings" panose="05000000000000000000" pitchFamily="2" charset="2"/>
              <a:buChar char="ü"/>
              <a:defRPr/>
            </a:pPr>
            <a:r>
              <a:rPr lang="en-US" sz="2400" dirty="0">
                <a:solidFill>
                  <a:srgbClr val="000000"/>
                </a:solidFill>
              </a:rPr>
              <a:t>Designed to </a:t>
            </a:r>
            <a:r>
              <a:rPr lang="en-US" sz="2400" dirty="0">
                <a:solidFill>
                  <a:srgbClr val="FF0000"/>
                </a:solidFill>
              </a:rPr>
              <a:t>monitor who is reading </a:t>
            </a:r>
            <a:r>
              <a:rPr lang="en-US" sz="2400" dirty="0">
                <a:solidFill>
                  <a:srgbClr val="000000"/>
                </a:solidFill>
              </a:rPr>
              <a:t>a message and </a:t>
            </a:r>
            <a:r>
              <a:rPr lang="en-US" sz="2400" dirty="0">
                <a:solidFill>
                  <a:srgbClr val="FF0000"/>
                </a:solidFill>
              </a:rPr>
              <a:t>transmitting</a:t>
            </a:r>
            <a:r>
              <a:rPr lang="en-US" sz="2400" dirty="0">
                <a:solidFill>
                  <a:srgbClr val="000000"/>
                </a:solidFill>
              </a:rPr>
              <a:t> that  information to another computer on the Internet.</a:t>
            </a:r>
          </a:p>
          <a:p>
            <a:pPr marL="0" indent="0" algn="just">
              <a:buNone/>
            </a:pPr>
            <a:r>
              <a:rPr lang="en-US" sz="2200" dirty="0"/>
              <a:t>e.g. if a super market sends an email to its customer by saying “big sale” then when the customer opens the email the web bug is already loaded  on the supermarket’s server so they track who, when, where does open the email by computer or phone so the customer will track by the market with out his knowledge.</a:t>
            </a:r>
          </a:p>
        </p:txBody>
      </p:sp>
      <p:sp>
        <p:nvSpPr>
          <p:cNvPr id="4" name="Slide Number Placeholder 3"/>
          <p:cNvSpPr>
            <a:spLocks noGrp="1"/>
          </p:cNvSpPr>
          <p:nvPr>
            <p:ph type="sldNum" sz="quarter" idx="12"/>
          </p:nvPr>
        </p:nvSpPr>
        <p:spPr/>
        <p:txBody>
          <a:bodyPr/>
          <a:lstStyle/>
          <a:p>
            <a:fld id="{B7CBDEE6-AD54-4DB7-8F93-7DE5909EBAB5}" type="slidenum">
              <a:rPr lang="en-US" smtClean="0"/>
              <a:t>25</a:t>
            </a:fld>
            <a:endParaRPr lang="en-US"/>
          </a:p>
        </p:txBody>
      </p:sp>
    </p:spTree>
    <p:extLst>
      <p:ext uri="{BB962C8B-B14F-4D97-AF65-F5344CB8AC3E}">
        <p14:creationId xmlns:p14="http://schemas.microsoft.com/office/powerpoint/2010/main" val="3895072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AD14-C36E-4D07-A968-1366FE2B0F71}"/>
              </a:ext>
            </a:extLst>
          </p:cNvPr>
          <p:cNvSpPr>
            <a:spLocks noGrp="1"/>
          </p:cNvSpPr>
          <p:nvPr>
            <p:ph type="title"/>
          </p:nvPr>
        </p:nvSpPr>
        <p:spPr/>
        <p:txBody>
          <a:bodyPr>
            <a:normAutofit fontScale="90000"/>
          </a:bodyPr>
          <a:lstStyle/>
          <a:p>
            <a:r>
              <a:rPr lang="en-US" altLang="en-US" b="1" dirty="0">
                <a:solidFill>
                  <a:srgbClr val="00B0F0"/>
                </a:solidFill>
              </a:rPr>
              <a:t>Internet Challenges to Privacy...</a:t>
            </a:r>
            <a:br>
              <a:rPr lang="en-US" altLang="en-US" b="1" dirty="0">
                <a:solidFill>
                  <a:srgbClr val="00B0F0"/>
                </a:solidFill>
              </a:rPr>
            </a:br>
            <a:endParaRPr lang="en-US" dirty="0"/>
          </a:p>
        </p:txBody>
      </p:sp>
      <p:sp>
        <p:nvSpPr>
          <p:cNvPr id="3" name="Content Placeholder 2">
            <a:extLst>
              <a:ext uri="{FF2B5EF4-FFF2-40B4-BE49-F238E27FC236}">
                <a16:creationId xmlns:a16="http://schemas.microsoft.com/office/drawing/2014/main" id="{39033F92-3B4E-AC1E-027D-4170CB9BD9BC}"/>
              </a:ext>
            </a:extLst>
          </p:cNvPr>
          <p:cNvSpPr>
            <a:spLocks noGrp="1"/>
          </p:cNvSpPr>
          <p:nvPr>
            <p:ph idx="1"/>
          </p:nvPr>
        </p:nvSpPr>
        <p:spPr>
          <a:xfrm>
            <a:off x="662731" y="2490135"/>
            <a:ext cx="7701094" cy="3444997"/>
          </a:xfrm>
        </p:spPr>
        <p:txBody>
          <a:bodyPr>
            <a:normAutofit fontScale="77500" lnSpcReduction="20000"/>
          </a:bodyPr>
          <a:lstStyle/>
          <a:p>
            <a:pPr lvl="2" indent="-342900" algn="just">
              <a:spcAft>
                <a:spcPct val="25000"/>
              </a:spcAft>
              <a:buFont typeface="Arial" panose="020B0604020202020204" pitchFamily="34" charset="0"/>
              <a:buChar char="•"/>
              <a:defRPr/>
            </a:pPr>
            <a:r>
              <a:rPr lang="en-US" sz="3300" b="1" dirty="0">
                <a:solidFill>
                  <a:srgbClr val="C00000"/>
                </a:solidFill>
              </a:rPr>
              <a:t>Spyware: </a:t>
            </a:r>
            <a:r>
              <a:rPr lang="en-US" sz="3300" dirty="0">
                <a:solidFill>
                  <a:srgbClr val="000000"/>
                </a:solidFill>
              </a:rPr>
              <a:t>Secretly  </a:t>
            </a:r>
            <a:r>
              <a:rPr lang="en-US" sz="3300" dirty="0">
                <a:solidFill>
                  <a:srgbClr val="FF0000"/>
                </a:solidFill>
              </a:rPr>
              <a:t>installed on user’s computer</a:t>
            </a:r>
          </a:p>
          <a:p>
            <a:pPr marL="1314450" lvl="2" indent="-457200" algn="just">
              <a:spcAft>
                <a:spcPct val="25000"/>
              </a:spcAft>
              <a:buFont typeface="Wingdings" panose="05000000000000000000" pitchFamily="2" charset="2"/>
              <a:buChar char="ü"/>
              <a:defRPr/>
            </a:pPr>
            <a:r>
              <a:rPr lang="en-US" sz="3300" dirty="0">
                <a:solidFill>
                  <a:srgbClr val="000000"/>
                </a:solidFill>
              </a:rPr>
              <a:t>May transmit user’s </a:t>
            </a:r>
            <a:r>
              <a:rPr lang="en-US" sz="3300" dirty="0">
                <a:solidFill>
                  <a:srgbClr val="FF0000"/>
                </a:solidFill>
              </a:rPr>
              <a:t>keystrokes </a:t>
            </a:r>
            <a:r>
              <a:rPr lang="en-US" sz="3300" dirty="0">
                <a:solidFill>
                  <a:srgbClr val="000000"/>
                </a:solidFill>
              </a:rPr>
              <a:t>or display </a:t>
            </a:r>
            <a:r>
              <a:rPr lang="en-US" sz="3300" dirty="0">
                <a:solidFill>
                  <a:srgbClr val="FF0000"/>
                </a:solidFill>
              </a:rPr>
              <a:t>unwanted ads.</a:t>
            </a:r>
          </a:p>
          <a:p>
            <a:r>
              <a:rPr lang="en-US" sz="3200" dirty="0"/>
              <a:t>E.g. if you can download a free film then hackers load spyware on your computer with out your knowledge the they will save the password that you insert for your accounts including bank account then it transfer or send the recorded data for the previous hackers.</a:t>
            </a:r>
          </a:p>
        </p:txBody>
      </p:sp>
      <p:sp>
        <p:nvSpPr>
          <p:cNvPr id="4" name="Slide Number Placeholder 3">
            <a:extLst>
              <a:ext uri="{FF2B5EF4-FFF2-40B4-BE49-F238E27FC236}">
                <a16:creationId xmlns:a16="http://schemas.microsoft.com/office/drawing/2014/main" id="{B411B02E-4566-2882-1C09-71D9EE5B2647}"/>
              </a:ext>
            </a:extLst>
          </p:cNvPr>
          <p:cNvSpPr>
            <a:spLocks noGrp="1"/>
          </p:cNvSpPr>
          <p:nvPr>
            <p:ph type="sldNum" sz="quarter" idx="12"/>
          </p:nvPr>
        </p:nvSpPr>
        <p:spPr/>
        <p:txBody>
          <a:bodyPr/>
          <a:lstStyle/>
          <a:p>
            <a:fld id="{B7CBDEE6-AD54-4DB7-8F93-7DE5909EBAB5}" type="slidenum">
              <a:rPr lang="en-US" smtClean="0"/>
              <a:t>26</a:t>
            </a:fld>
            <a:endParaRPr lang="en-US"/>
          </a:p>
        </p:txBody>
      </p:sp>
    </p:spTree>
    <p:extLst>
      <p:ext uri="{BB962C8B-B14F-4D97-AF65-F5344CB8AC3E}">
        <p14:creationId xmlns:p14="http://schemas.microsoft.com/office/powerpoint/2010/main" val="4249116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rgbClr val="000000"/>
                </a:solidFill>
              </a:rPr>
              <a:t>Property Rights</a:t>
            </a:r>
            <a:endParaRPr lang="en-US" sz="2800" dirty="0"/>
          </a:p>
        </p:txBody>
      </p:sp>
      <p:sp>
        <p:nvSpPr>
          <p:cNvPr id="3" name="Content Placeholder 2"/>
          <p:cNvSpPr>
            <a:spLocks noGrp="1"/>
          </p:cNvSpPr>
          <p:nvPr>
            <p:ph idx="1"/>
          </p:nvPr>
        </p:nvSpPr>
        <p:spPr>
          <a:xfrm>
            <a:off x="463639" y="2490135"/>
            <a:ext cx="8216722" cy="3846271"/>
          </a:xfrm>
        </p:spPr>
        <p:txBody>
          <a:bodyPr>
            <a:normAutofit fontScale="92500" lnSpcReduction="20000"/>
          </a:bodyPr>
          <a:lstStyle/>
          <a:p>
            <a:pPr lvl="1" algn="just">
              <a:spcAft>
                <a:spcPct val="25000"/>
              </a:spcAft>
              <a:buFontTx/>
              <a:buChar char="•"/>
              <a:defRPr/>
            </a:pPr>
            <a:r>
              <a:rPr lang="en-US" altLang="en-US" sz="2800" b="1" dirty="0"/>
              <a:t>Intellectual property:</a:t>
            </a:r>
            <a:r>
              <a:rPr lang="en-US" altLang="en-US" sz="2800" b="1" dirty="0">
                <a:solidFill>
                  <a:srgbClr val="000000"/>
                </a:solidFill>
              </a:rPr>
              <a:t> </a:t>
            </a:r>
            <a:r>
              <a:rPr lang="en-US" altLang="en-US" sz="2800" dirty="0">
                <a:solidFill>
                  <a:srgbClr val="FF0000"/>
                </a:solidFill>
              </a:rPr>
              <a:t>Intangible property </a:t>
            </a:r>
            <a:r>
              <a:rPr lang="en-US" altLang="en-US" sz="2800" dirty="0">
                <a:solidFill>
                  <a:srgbClr val="000000"/>
                </a:solidFill>
              </a:rPr>
              <a:t>of any kind created by individuals or corporations.</a:t>
            </a:r>
          </a:p>
          <a:p>
            <a:pPr lvl="1">
              <a:spcAft>
                <a:spcPct val="25000"/>
              </a:spcAft>
              <a:buFontTx/>
              <a:buChar char="•"/>
              <a:defRPr/>
            </a:pPr>
            <a:r>
              <a:rPr lang="en-US" altLang="en-US" sz="2800" dirty="0">
                <a:solidFill>
                  <a:srgbClr val="FF0000"/>
                </a:solidFill>
              </a:rPr>
              <a:t>Three</a:t>
            </a:r>
            <a:r>
              <a:rPr lang="en-US" altLang="en-US" sz="2800" dirty="0">
                <a:solidFill>
                  <a:srgbClr val="000000"/>
                </a:solidFill>
              </a:rPr>
              <a:t> ways that intellectual property is protected </a:t>
            </a:r>
          </a:p>
          <a:p>
            <a:pPr lvl="1" algn="just">
              <a:spcAft>
                <a:spcPct val="25000"/>
              </a:spcAft>
              <a:buFont typeface="Wingdings" panose="05000000000000000000" pitchFamily="2" charset="2"/>
              <a:buChar char="ü"/>
              <a:defRPr/>
            </a:pPr>
            <a:r>
              <a:rPr lang="en-US" altLang="en-US" sz="2800" b="1" dirty="0"/>
              <a:t>Trade</a:t>
            </a:r>
            <a:r>
              <a:rPr lang="en-US" altLang="en-US" sz="2800" dirty="0"/>
              <a:t> </a:t>
            </a:r>
            <a:r>
              <a:rPr lang="en-US" altLang="en-US" sz="2800" b="1" dirty="0"/>
              <a:t>secret</a:t>
            </a:r>
            <a:r>
              <a:rPr lang="en-US" altLang="en-US" sz="2800" dirty="0"/>
              <a:t>: Intellectual work or product belonging to business, </a:t>
            </a:r>
            <a:r>
              <a:rPr lang="en-US" altLang="en-US" sz="2800" dirty="0">
                <a:solidFill>
                  <a:srgbClr val="FF0000"/>
                </a:solidFill>
              </a:rPr>
              <a:t>not </a:t>
            </a:r>
            <a:r>
              <a:rPr lang="en-US" altLang="en-US" sz="2800" dirty="0"/>
              <a:t>in the </a:t>
            </a:r>
            <a:r>
              <a:rPr lang="en-US" altLang="en-US" sz="2800" dirty="0">
                <a:solidFill>
                  <a:srgbClr val="FF0000"/>
                </a:solidFill>
              </a:rPr>
              <a:t>public domain</a:t>
            </a:r>
            <a:r>
              <a:rPr lang="en-US" altLang="en-US" sz="2800" dirty="0"/>
              <a:t>.</a:t>
            </a:r>
          </a:p>
          <a:p>
            <a:pPr lvl="1" algn="just">
              <a:spcAft>
                <a:spcPct val="25000"/>
              </a:spcAft>
              <a:buFont typeface="Wingdings" panose="05000000000000000000" pitchFamily="2" charset="2"/>
              <a:buChar char="ü"/>
              <a:defRPr/>
            </a:pPr>
            <a:r>
              <a:rPr lang="en-US" sz="2800" dirty="0"/>
              <a:t>Software that contains novel or unique elements, procedures, or compilations can be included as a trade secret.</a:t>
            </a:r>
          </a:p>
          <a:p>
            <a:pPr lvl="2" algn="just">
              <a:spcAft>
                <a:spcPct val="25000"/>
              </a:spcAft>
              <a:buFont typeface="Wingdings" panose="05000000000000000000" pitchFamily="2" charset="2"/>
              <a:buChar char="ü"/>
              <a:defRPr/>
            </a:pPr>
            <a:r>
              <a:rPr lang="en-US" altLang="en-US" sz="2400" dirty="0"/>
              <a:t>E.g. coca cola formula</a:t>
            </a:r>
          </a:p>
        </p:txBody>
      </p:sp>
      <p:sp>
        <p:nvSpPr>
          <p:cNvPr id="4" name="Slide Number Placeholder 3"/>
          <p:cNvSpPr>
            <a:spLocks noGrp="1"/>
          </p:cNvSpPr>
          <p:nvPr>
            <p:ph type="sldNum" sz="quarter" idx="12"/>
          </p:nvPr>
        </p:nvSpPr>
        <p:spPr/>
        <p:txBody>
          <a:bodyPr/>
          <a:lstStyle/>
          <a:p>
            <a:fld id="{B7CBDEE6-AD54-4DB7-8F93-7DE5909EBAB5}" type="slidenum">
              <a:rPr lang="en-US" smtClean="0"/>
              <a:t>27</a:t>
            </a:fld>
            <a:endParaRPr lang="en-US"/>
          </a:p>
        </p:txBody>
      </p:sp>
    </p:spTree>
    <p:extLst>
      <p:ext uri="{BB962C8B-B14F-4D97-AF65-F5344CB8AC3E}">
        <p14:creationId xmlns:p14="http://schemas.microsoft.com/office/powerpoint/2010/main" val="397485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rgbClr val="000000"/>
                </a:solidFill>
              </a:rPr>
              <a:t>Property Rights...</a:t>
            </a:r>
            <a:endParaRPr lang="en-US" dirty="0"/>
          </a:p>
        </p:txBody>
      </p:sp>
      <p:sp>
        <p:nvSpPr>
          <p:cNvPr id="3" name="Content Placeholder 2"/>
          <p:cNvSpPr>
            <a:spLocks noGrp="1"/>
          </p:cNvSpPr>
          <p:nvPr>
            <p:ph idx="1"/>
          </p:nvPr>
        </p:nvSpPr>
        <p:spPr>
          <a:xfrm>
            <a:off x="618186" y="2490135"/>
            <a:ext cx="7740203" cy="3444997"/>
          </a:xfrm>
        </p:spPr>
        <p:txBody>
          <a:bodyPr>
            <a:normAutofit fontScale="92500" lnSpcReduction="20000"/>
          </a:bodyPr>
          <a:lstStyle/>
          <a:p>
            <a:pPr lvl="2" algn="just">
              <a:spcAft>
                <a:spcPct val="25000"/>
              </a:spcAft>
              <a:buFont typeface="Wingdings" panose="05000000000000000000" pitchFamily="2" charset="2"/>
              <a:buChar char="ü"/>
              <a:defRPr/>
            </a:pPr>
            <a:r>
              <a:rPr lang="en-US" altLang="en-US" sz="2800" b="1" dirty="0"/>
              <a:t>Copyright</a:t>
            </a:r>
            <a:r>
              <a:rPr lang="en-US" altLang="en-US" sz="2800" dirty="0"/>
              <a:t>: Statutory </a:t>
            </a:r>
            <a:r>
              <a:rPr lang="en-US" altLang="en-US" sz="2800" dirty="0">
                <a:solidFill>
                  <a:srgbClr val="FF0000"/>
                </a:solidFill>
              </a:rPr>
              <a:t>grant protecting </a:t>
            </a:r>
            <a:r>
              <a:rPr lang="en-US" altLang="en-US" sz="2800" dirty="0"/>
              <a:t>intellectual property from </a:t>
            </a:r>
            <a:r>
              <a:rPr lang="en-US" altLang="en-US" sz="2800" dirty="0">
                <a:solidFill>
                  <a:srgbClr val="FF0000"/>
                </a:solidFill>
              </a:rPr>
              <a:t>being copied </a:t>
            </a:r>
            <a:r>
              <a:rPr lang="en-US" altLang="en-US" sz="2800" dirty="0"/>
              <a:t>for the </a:t>
            </a:r>
            <a:r>
              <a:rPr lang="en-US" altLang="en-US" sz="2800" dirty="0">
                <a:solidFill>
                  <a:srgbClr val="FF0000"/>
                </a:solidFill>
              </a:rPr>
              <a:t>life of the author</a:t>
            </a:r>
            <a:r>
              <a:rPr lang="en-US" altLang="en-US" sz="2800" dirty="0"/>
              <a:t>, plus 70 years.</a:t>
            </a:r>
          </a:p>
          <a:p>
            <a:pPr marL="914400" lvl="2" indent="0" algn="just">
              <a:spcAft>
                <a:spcPct val="25000"/>
              </a:spcAft>
              <a:buNone/>
              <a:defRPr/>
            </a:pPr>
            <a:r>
              <a:rPr lang="en-US" altLang="en-US" sz="2800" dirty="0"/>
              <a:t>e.g. books author, poem and lyrics writer right</a:t>
            </a:r>
          </a:p>
          <a:p>
            <a:pPr lvl="2" algn="just">
              <a:spcAft>
                <a:spcPct val="25000"/>
              </a:spcAft>
              <a:buFont typeface="Wingdings" panose="05000000000000000000" pitchFamily="2" charset="2"/>
              <a:buChar char="ü"/>
              <a:defRPr/>
            </a:pPr>
            <a:r>
              <a:rPr lang="en-US" altLang="en-US" sz="2800" b="1" dirty="0"/>
              <a:t>Patents</a:t>
            </a:r>
            <a:r>
              <a:rPr lang="en-US" altLang="en-US" sz="2800" dirty="0"/>
              <a:t>: </a:t>
            </a:r>
            <a:r>
              <a:rPr lang="en-US" altLang="en-US" sz="2800" dirty="0">
                <a:solidFill>
                  <a:srgbClr val="FF0000"/>
                </a:solidFill>
              </a:rPr>
              <a:t>Grants creator of invention </a:t>
            </a:r>
            <a:r>
              <a:rPr lang="en-US" altLang="en-US" sz="2800" dirty="0"/>
              <a:t>an exclusive monopoly on ideas behind invention for 20 years.</a:t>
            </a:r>
          </a:p>
          <a:p>
            <a:pPr marL="914400" lvl="2" indent="0" algn="just">
              <a:spcAft>
                <a:spcPct val="25000"/>
              </a:spcAft>
              <a:buNone/>
              <a:defRPr/>
            </a:pPr>
            <a:r>
              <a:rPr lang="en-US" sz="2800" dirty="0" err="1"/>
              <a:t>e.g</a:t>
            </a:r>
            <a:r>
              <a:rPr lang="en-US" sz="2800" dirty="0"/>
              <a:t> innovations related with engineering inventions</a:t>
            </a:r>
            <a:endParaRPr lang="en-US" sz="2000" dirty="0"/>
          </a:p>
          <a:p>
            <a:pPr algn="just"/>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28</a:t>
            </a:fld>
            <a:endParaRPr lang="en-US"/>
          </a:p>
        </p:txBody>
      </p:sp>
    </p:spTree>
    <p:extLst>
      <p:ext uri="{BB962C8B-B14F-4D97-AF65-F5344CB8AC3E}">
        <p14:creationId xmlns:p14="http://schemas.microsoft.com/office/powerpoint/2010/main" val="285350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5" y="1160867"/>
            <a:ext cx="6798734" cy="1303867"/>
          </a:xfrm>
        </p:spPr>
        <p:txBody>
          <a:bodyPr>
            <a:noAutofit/>
          </a:bodyPr>
          <a:lstStyle/>
          <a:p>
            <a:r>
              <a:rPr lang="en-US" altLang="en-US" sz="3200" b="1" dirty="0">
                <a:solidFill>
                  <a:srgbClr val="00B0F0"/>
                </a:solidFill>
              </a:rPr>
              <a:t>Challenges to Intellectual Property Rights</a:t>
            </a:r>
            <a:br>
              <a:rPr lang="en-US" altLang="en-US" sz="3200" b="1" dirty="0">
                <a:solidFill>
                  <a:srgbClr val="00B0F0"/>
                </a:solidFill>
              </a:rPr>
            </a:br>
            <a:endParaRPr lang="en-US" sz="3200" dirty="0"/>
          </a:p>
        </p:txBody>
      </p:sp>
      <p:sp>
        <p:nvSpPr>
          <p:cNvPr id="3" name="Content Placeholder 2"/>
          <p:cNvSpPr>
            <a:spLocks noGrp="1"/>
          </p:cNvSpPr>
          <p:nvPr>
            <p:ph idx="1"/>
          </p:nvPr>
        </p:nvSpPr>
        <p:spPr/>
        <p:txBody>
          <a:bodyPr>
            <a:normAutofit fontScale="92500" lnSpcReduction="10000"/>
          </a:bodyPr>
          <a:lstStyle/>
          <a:p>
            <a:pPr lvl="1" algn="just">
              <a:spcAft>
                <a:spcPct val="10000"/>
              </a:spcAft>
              <a:buFontTx/>
              <a:buChar char="•"/>
              <a:defRPr/>
            </a:pPr>
            <a:r>
              <a:rPr lang="en-US" altLang="en-US" sz="2800" dirty="0">
                <a:solidFill>
                  <a:srgbClr val="000000"/>
                </a:solidFill>
              </a:rPr>
              <a:t>Digital media different from physical media (e.g. books)</a:t>
            </a:r>
          </a:p>
          <a:p>
            <a:pPr lvl="2" algn="just">
              <a:spcAft>
                <a:spcPct val="10000"/>
              </a:spcAft>
              <a:buFontTx/>
              <a:buChar char="•"/>
              <a:defRPr/>
            </a:pPr>
            <a:r>
              <a:rPr lang="en-US" altLang="en-US" sz="2800" dirty="0">
                <a:solidFill>
                  <a:srgbClr val="000000"/>
                </a:solidFill>
              </a:rPr>
              <a:t>Ease of replication</a:t>
            </a:r>
          </a:p>
          <a:p>
            <a:pPr lvl="2" algn="just">
              <a:spcAft>
                <a:spcPct val="10000"/>
              </a:spcAft>
              <a:buFontTx/>
              <a:buChar char="•"/>
              <a:defRPr/>
            </a:pPr>
            <a:r>
              <a:rPr lang="en-US" altLang="en-US" sz="2800" dirty="0">
                <a:solidFill>
                  <a:srgbClr val="000000"/>
                </a:solidFill>
              </a:rPr>
              <a:t>Ease of transmission (networks, Internet)</a:t>
            </a:r>
          </a:p>
          <a:p>
            <a:pPr lvl="2" algn="just">
              <a:spcAft>
                <a:spcPct val="10000"/>
              </a:spcAft>
              <a:buFontTx/>
              <a:buChar char="•"/>
              <a:defRPr/>
            </a:pPr>
            <a:r>
              <a:rPr lang="en-US" altLang="en-US" sz="2800" dirty="0">
                <a:solidFill>
                  <a:srgbClr val="000000"/>
                </a:solidFill>
              </a:rPr>
              <a:t>Difficulty in classifying software</a:t>
            </a:r>
          </a:p>
          <a:p>
            <a:pPr lvl="2" algn="just">
              <a:spcAft>
                <a:spcPct val="10000"/>
              </a:spcAft>
              <a:buFontTx/>
              <a:buChar char="•"/>
              <a:defRPr/>
            </a:pPr>
            <a:r>
              <a:rPr lang="en-US" altLang="en-US" sz="2800" dirty="0">
                <a:solidFill>
                  <a:srgbClr val="000000"/>
                </a:solidFill>
              </a:rPr>
              <a:t>Compactness</a:t>
            </a:r>
          </a:p>
          <a:p>
            <a:pPr lvl="2" algn="just">
              <a:spcAft>
                <a:spcPct val="25000"/>
              </a:spcAft>
              <a:buFontTx/>
              <a:buChar char="•"/>
              <a:defRPr/>
            </a:pPr>
            <a:r>
              <a:rPr lang="en-US" altLang="en-US" sz="2800" dirty="0">
                <a:solidFill>
                  <a:srgbClr val="000000"/>
                </a:solidFill>
              </a:rPr>
              <a:t>Difficulties in establishing uniqueness</a:t>
            </a:r>
          </a:p>
          <a:p>
            <a:pPr algn="just"/>
            <a:endParaRPr lang="en-US" sz="3200" dirty="0"/>
          </a:p>
        </p:txBody>
      </p:sp>
      <p:sp>
        <p:nvSpPr>
          <p:cNvPr id="4" name="Slide Number Placeholder 3"/>
          <p:cNvSpPr>
            <a:spLocks noGrp="1"/>
          </p:cNvSpPr>
          <p:nvPr>
            <p:ph type="sldNum" sz="quarter" idx="12"/>
          </p:nvPr>
        </p:nvSpPr>
        <p:spPr/>
        <p:txBody>
          <a:bodyPr/>
          <a:lstStyle/>
          <a:p>
            <a:fld id="{B7CBDEE6-AD54-4DB7-8F93-7DE5909EBAB5}" type="slidenum">
              <a:rPr lang="en-US" smtClean="0"/>
              <a:t>29</a:t>
            </a:fld>
            <a:endParaRPr lang="en-US"/>
          </a:p>
        </p:txBody>
      </p:sp>
    </p:spTree>
    <p:extLst>
      <p:ext uri="{BB962C8B-B14F-4D97-AF65-F5344CB8AC3E}">
        <p14:creationId xmlns:p14="http://schemas.microsoft.com/office/powerpoint/2010/main" val="352781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975" y="915337"/>
            <a:ext cx="7508383" cy="1303867"/>
          </a:xfrm>
        </p:spPr>
        <p:txBody>
          <a:bodyPr>
            <a:normAutofit fontScale="90000"/>
          </a:bodyPr>
          <a:lstStyle/>
          <a:p>
            <a:r>
              <a:rPr lang="en-US" altLang="en-US" dirty="0">
                <a:solidFill>
                  <a:srgbClr val="00B0F0"/>
                </a:solidFill>
              </a:rPr>
              <a:t>Principal sources of poor system performance</a:t>
            </a:r>
            <a:endParaRPr lang="en-US" dirty="0"/>
          </a:p>
        </p:txBody>
      </p:sp>
      <p:sp>
        <p:nvSpPr>
          <p:cNvPr id="3" name="Content Placeholder 2"/>
          <p:cNvSpPr>
            <a:spLocks noGrp="1"/>
          </p:cNvSpPr>
          <p:nvPr>
            <p:ph idx="1"/>
          </p:nvPr>
        </p:nvSpPr>
        <p:spPr>
          <a:xfrm>
            <a:off x="476518" y="2490135"/>
            <a:ext cx="7778839" cy="3444997"/>
          </a:xfrm>
        </p:spPr>
        <p:txBody>
          <a:bodyPr>
            <a:normAutofit/>
          </a:bodyPr>
          <a:lstStyle/>
          <a:p>
            <a:pPr lvl="2" indent="-342900" algn="just">
              <a:spcAft>
                <a:spcPct val="25000"/>
              </a:spcAft>
              <a:buFont typeface="Arial" panose="020B0604020202020204" pitchFamily="34" charset="0"/>
              <a:buChar char="•"/>
              <a:defRPr/>
            </a:pPr>
            <a:r>
              <a:rPr lang="en-US" altLang="en-US" sz="2800" dirty="0">
                <a:solidFill>
                  <a:srgbClr val="00B0F0"/>
                </a:solidFill>
              </a:rPr>
              <a:t>Three principal sources of poor system performance.:</a:t>
            </a:r>
            <a:endParaRPr lang="en-US" sz="2800" dirty="0"/>
          </a:p>
          <a:p>
            <a:pPr lvl="2" indent="-342900" algn="just">
              <a:spcAft>
                <a:spcPct val="25000"/>
              </a:spcAft>
              <a:buFont typeface="Wingdings" pitchFamily="2" charset="2"/>
              <a:buChar char="ü"/>
              <a:defRPr/>
            </a:pPr>
            <a:r>
              <a:rPr lang="en-US" sz="2800" dirty="0"/>
              <a:t>Software bugs, errors</a:t>
            </a:r>
          </a:p>
          <a:p>
            <a:pPr lvl="2" indent="-342900" algn="just">
              <a:spcAft>
                <a:spcPct val="25000"/>
              </a:spcAft>
              <a:buFont typeface="Wingdings" pitchFamily="2" charset="2"/>
              <a:buChar char="ü"/>
              <a:defRPr/>
            </a:pPr>
            <a:r>
              <a:rPr lang="en-US" sz="2800" dirty="0"/>
              <a:t>Hardware or facility failures</a:t>
            </a:r>
          </a:p>
          <a:p>
            <a:pPr lvl="2" indent="-342900" algn="just">
              <a:spcAft>
                <a:spcPct val="25000"/>
              </a:spcAft>
              <a:buFont typeface="Wingdings" pitchFamily="2" charset="2"/>
              <a:buChar char="ü"/>
              <a:defRPr/>
            </a:pPr>
            <a:r>
              <a:rPr lang="en-US" sz="2800" dirty="0"/>
              <a:t>Poor input data quality (most common source of business system failure)</a:t>
            </a:r>
          </a:p>
          <a:p>
            <a:pPr algn="just"/>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30</a:t>
            </a:fld>
            <a:endParaRPr lang="en-US"/>
          </a:p>
        </p:txBody>
      </p:sp>
    </p:spTree>
    <p:extLst>
      <p:ext uri="{BB962C8B-B14F-4D97-AF65-F5344CB8AC3E}">
        <p14:creationId xmlns:p14="http://schemas.microsoft.com/office/powerpoint/2010/main" val="1242553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217" y="915337"/>
            <a:ext cx="7611413" cy="1303867"/>
          </a:xfrm>
        </p:spPr>
        <p:txBody>
          <a:bodyPr>
            <a:normAutofit fontScale="90000"/>
          </a:bodyPr>
          <a:lstStyle/>
          <a:p>
            <a:r>
              <a:rPr lang="en-US" dirty="0"/>
              <a:t>Negative social consequences of systems</a:t>
            </a:r>
          </a:p>
        </p:txBody>
      </p:sp>
      <p:sp>
        <p:nvSpPr>
          <p:cNvPr id="3" name="Content Placeholder 2"/>
          <p:cNvSpPr>
            <a:spLocks noGrp="1"/>
          </p:cNvSpPr>
          <p:nvPr>
            <p:ph idx="1"/>
          </p:nvPr>
        </p:nvSpPr>
        <p:spPr>
          <a:xfrm>
            <a:off x="528034" y="2343955"/>
            <a:ext cx="7804597" cy="4005330"/>
          </a:xfrm>
        </p:spPr>
        <p:txBody>
          <a:bodyPr>
            <a:normAutofit/>
          </a:bodyPr>
          <a:lstStyle/>
          <a:p>
            <a:pPr lvl="1" algn="just">
              <a:spcAft>
                <a:spcPct val="25000"/>
              </a:spcAft>
              <a:buFont typeface="Arial" panose="020B0604020202020204" pitchFamily="34" charset="0"/>
              <a:buChar char="•"/>
              <a:defRPr/>
            </a:pPr>
            <a:r>
              <a:rPr lang="en-US" sz="2800" b="1" dirty="0">
                <a:solidFill>
                  <a:srgbClr val="000000"/>
                </a:solidFill>
              </a:rPr>
              <a:t>Computer crime and abuse</a:t>
            </a:r>
          </a:p>
          <a:p>
            <a:pPr algn="just">
              <a:buFont typeface="Wingdings" panose="05000000000000000000" pitchFamily="2" charset="2"/>
              <a:buChar char="ü"/>
            </a:pPr>
            <a:r>
              <a:rPr lang="en-US" sz="2800" b="1" dirty="0">
                <a:solidFill>
                  <a:srgbClr val="000000"/>
                </a:solidFill>
              </a:rPr>
              <a:t>Computer crime</a:t>
            </a:r>
            <a:r>
              <a:rPr lang="en-US" sz="2800" dirty="0">
                <a:solidFill>
                  <a:srgbClr val="000000"/>
                </a:solidFill>
              </a:rPr>
              <a:t>: </a:t>
            </a:r>
            <a:r>
              <a:rPr lang="en-US" sz="2800" dirty="0">
                <a:solidFill>
                  <a:srgbClr val="FF0000"/>
                </a:solidFill>
              </a:rPr>
              <a:t>illegal act </a:t>
            </a:r>
            <a:r>
              <a:rPr lang="en-US" sz="2800" dirty="0"/>
              <a:t>through use of computer or against a computer system</a:t>
            </a:r>
            <a:r>
              <a:rPr lang="en-US" sz="2800" dirty="0">
                <a:solidFill>
                  <a:srgbClr val="000000"/>
                </a:solidFill>
              </a:rPr>
              <a:t>.</a:t>
            </a:r>
          </a:p>
          <a:p>
            <a:pPr marL="1314450" lvl="2" indent="-457200" algn="just">
              <a:spcAft>
                <a:spcPct val="25000"/>
              </a:spcAft>
              <a:buFont typeface="Wingdings" panose="05000000000000000000" pitchFamily="2" charset="2"/>
              <a:buChar char="ü"/>
              <a:defRPr/>
            </a:pPr>
            <a:r>
              <a:rPr lang="en-US" sz="2800" dirty="0">
                <a:solidFill>
                  <a:srgbClr val="000000"/>
                </a:solidFill>
              </a:rPr>
              <a:t>computer may be </a:t>
            </a:r>
            <a:r>
              <a:rPr lang="en-US" sz="2800" dirty="0">
                <a:solidFill>
                  <a:srgbClr val="FF0000"/>
                </a:solidFill>
              </a:rPr>
              <a:t>object</a:t>
            </a:r>
            <a:r>
              <a:rPr lang="en-US" sz="2800" dirty="0">
                <a:solidFill>
                  <a:srgbClr val="000000"/>
                </a:solidFill>
              </a:rPr>
              <a:t> or </a:t>
            </a:r>
            <a:r>
              <a:rPr lang="en-US" sz="2800" dirty="0">
                <a:solidFill>
                  <a:srgbClr val="FF0000"/>
                </a:solidFill>
              </a:rPr>
              <a:t>instrument</a:t>
            </a:r>
            <a:r>
              <a:rPr lang="en-US" sz="2800" dirty="0">
                <a:solidFill>
                  <a:srgbClr val="000000"/>
                </a:solidFill>
              </a:rPr>
              <a:t> of crime.</a:t>
            </a:r>
          </a:p>
          <a:p>
            <a:pPr marL="857250" lvl="2" indent="0" algn="just">
              <a:spcAft>
                <a:spcPct val="25000"/>
              </a:spcAft>
              <a:buNone/>
              <a:defRPr/>
            </a:pPr>
            <a:r>
              <a:rPr lang="en-US" sz="2800" dirty="0" err="1">
                <a:solidFill>
                  <a:srgbClr val="000000"/>
                </a:solidFill>
              </a:rPr>
              <a:t>e.g</a:t>
            </a:r>
            <a:r>
              <a:rPr lang="en-US" sz="2800" dirty="0">
                <a:solidFill>
                  <a:srgbClr val="000000"/>
                </a:solidFill>
              </a:rPr>
              <a:t> hacking</a:t>
            </a:r>
          </a:p>
          <a:p>
            <a:pPr algn="just"/>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31</a:t>
            </a:fld>
            <a:endParaRPr lang="en-US"/>
          </a:p>
        </p:txBody>
      </p:sp>
    </p:spTree>
    <p:extLst>
      <p:ext uri="{BB962C8B-B14F-4D97-AF65-F5344CB8AC3E}">
        <p14:creationId xmlns:p14="http://schemas.microsoft.com/office/powerpoint/2010/main" val="276811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99F70-209D-9641-4ABF-7C3ACC930734}"/>
              </a:ext>
            </a:extLst>
          </p:cNvPr>
          <p:cNvSpPr>
            <a:spLocks noGrp="1"/>
          </p:cNvSpPr>
          <p:nvPr>
            <p:ph type="title"/>
          </p:nvPr>
        </p:nvSpPr>
        <p:spPr/>
        <p:txBody>
          <a:bodyPr>
            <a:normAutofit fontScale="90000"/>
          </a:bodyPr>
          <a:lstStyle/>
          <a:p>
            <a:r>
              <a:rPr lang="en-US" b="1" dirty="0"/>
              <a:t>Negative social consequences of systems…</a:t>
            </a:r>
          </a:p>
        </p:txBody>
      </p:sp>
      <p:sp>
        <p:nvSpPr>
          <p:cNvPr id="3" name="Content Placeholder 2">
            <a:extLst>
              <a:ext uri="{FF2B5EF4-FFF2-40B4-BE49-F238E27FC236}">
                <a16:creationId xmlns:a16="http://schemas.microsoft.com/office/drawing/2014/main" id="{9A935B57-7688-EFA0-A074-DB55B0E1E9CA}"/>
              </a:ext>
            </a:extLst>
          </p:cNvPr>
          <p:cNvSpPr>
            <a:spLocks noGrp="1"/>
          </p:cNvSpPr>
          <p:nvPr>
            <p:ph idx="1"/>
          </p:nvPr>
        </p:nvSpPr>
        <p:spPr>
          <a:xfrm>
            <a:off x="1176865" y="2490135"/>
            <a:ext cx="7228904" cy="3444997"/>
          </a:xfrm>
        </p:spPr>
        <p:txBody>
          <a:bodyPr>
            <a:normAutofit fontScale="92500" lnSpcReduction="20000"/>
          </a:bodyPr>
          <a:lstStyle/>
          <a:p>
            <a:pPr marL="1314450" lvl="2" indent="-457200" algn="just">
              <a:spcAft>
                <a:spcPct val="25000"/>
              </a:spcAft>
              <a:buFont typeface="Wingdings" panose="05000000000000000000" pitchFamily="2" charset="2"/>
              <a:buChar char="ü"/>
              <a:defRPr/>
            </a:pPr>
            <a:r>
              <a:rPr lang="en-US" sz="2600" b="1" dirty="0">
                <a:solidFill>
                  <a:srgbClr val="000000"/>
                </a:solidFill>
              </a:rPr>
              <a:t>Computer abuse</a:t>
            </a:r>
            <a:r>
              <a:rPr lang="en-US" sz="2600" dirty="0">
                <a:solidFill>
                  <a:srgbClr val="000000"/>
                </a:solidFill>
              </a:rPr>
              <a:t>: </a:t>
            </a:r>
            <a:r>
              <a:rPr lang="en-US" sz="2600" dirty="0"/>
              <a:t>unethical acts, </a:t>
            </a:r>
            <a:r>
              <a:rPr lang="en-US" sz="2600" dirty="0">
                <a:solidFill>
                  <a:srgbClr val="FF0000"/>
                </a:solidFill>
              </a:rPr>
              <a:t>not illegal</a:t>
            </a:r>
          </a:p>
          <a:p>
            <a:pPr marL="857250" lvl="2" indent="0" algn="just">
              <a:spcAft>
                <a:spcPct val="25000"/>
              </a:spcAft>
              <a:buNone/>
              <a:defRPr/>
            </a:pPr>
            <a:r>
              <a:rPr lang="en-US" sz="2600" dirty="0">
                <a:solidFill>
                  <a:srgbClr val="FF0000"/>
                </a:solidFill>
              </a:rPr>
              <a:t>e.g. an organizational employee scroll social media by using organizations computer during work time.</a:t>
            </a:r>
          </a:p>
          <a:p>
            <a:pPr algn="just">
              <a:buFont typeface="Wingdings" panose="05000000000000000000" pitchFamily="2" charset="2"/>
              <a:buChar char="ü"/>
            </a:pPr>
            <a:r>
              <a:rPr lang="en-US" sz="2800" dirty="0">
                <a:solidFill>
                  <a:srgbClr val="FF0000"/>
                </a:solidFill>
              </a:rPr>
              <a:t>Spam: </a:t>
            </a:r>
            <a:r>
              <a:rPr lang="en-US" sz="2800" dirty="0"/>
              <a:t>high costs for businesses in dealing with spam</a:t>
            </a:r>
          </a:p>
          <a:p>
            <a:pPr algn="just">
              <a:buFont typeface="Wingdings" panose="05000000000000000000" pitchFamily="2" charset="2"/>
              <a:buChar char="ü"/>
            </a:pPr>
            <a:r>
              <a:rPr lang="en-US" sz="2800" dirty="0"/>
              <a:t>Spam is </a:t>
            </a:r>
            <a:r>
              <a:rPr lang="en-US" sz="2800" dirty="0">
                <a:solidFill>
                  <a:srgbClr val="FF0000"/>
                </a:solidFill>
              </a:rPr>
              <a:t>junk e-mail sent </a:t>
            </a:r>
            <a:r>
              <a:rPr lang="en-US" sz="2800" dirty="0"/>
              <a:t>by an </a:t>
            </a:r>
            <a:r>
              <a:rPr lang="en-US" sz="2800" dirty="0">
                <a:solidFill>
                  <a:srgbClr val="FF0000"/>
                </a:solidFill>
              </a:rPr>
              <a:t>organization or individual to a mass audience of Internet users </a:t>
            </a:r>
            <a:r>
              <a:rPr lang="en-US" sz="2800" dirty="0"/>
              <a:t>who have expressed </a:t>
            </a:r>
            <a:r>
              <a:rPr lang="en-US" sz="2800" dirty="0">
                <a:solidFill>
                  <a:srgbClr val="FF0000"/>
                </a:solidFill>
              </a:rPr>
              <a:t>no interest </a:t>
            </a:r>
            <a:r>
              <a:rPr lang="en-US" sz="2800" dirty="0"/>
              <a:t>in the product or service being marketed.</a:t>
            </a:r>
          </a:p>
          <a:p>
            <a:endParaRPr lang="en-US" dirty="0"/>
          </a:p>
        </p:txBody>
      </p:sp>
      <p:sp>
        <p:nvSpPr>
          <p:cNvPr id="4" name="Slide Number Placeholder 3">
            <a:extLst>
              <a:ext uri="{FF2B5EF4-FFF2-40B4-BE49-F238E27FC236}">
                <a16:creationId xmlns:a16="http://schemas.microsoft.com/office/drawing/2014/main" id="{3EFCCA86-2595-0AED-F48D-B44F7BEF82B8}"/>
              </a:ext>
            </a:extLst>
          </p:cNvPr>
          <p:cNvSpPr>
            <a:spLocks noGrp="1"/>
          </p:cNvSpPr>
          <p:nvPr>
            <p:ph type="sldNum" sz="quarter" idx="12"/>
          </p:nvPr>
        </p:nvSpPr>
        <p:spPr/>
        <p:txBody>
          <a:bodyPr/>
          <a:lstStyle/>
          <a:p>
            <a:fld id="{B7CBDEE6-AD54-4DB7-8F93-7DE5909EBAB5}" type="slidenum">
              <a:rPr lang="en-US" smtClean="0"/>
              <a:t>32</a:t>
            </a:fld>
            <a:endParaRPr lang="en-US"/>
          </a:p>
        </p:txBody>
      </p:sp>
    </p:spTree>
    <p:extLst>
      <p:ext uri="{BB962C8B-B14F-4D97-AF65-F5344CB8AC3E}">
        <p14:creationId xmlns:p14="http://schemas.microsoft.com/office/powerpoint/2010/main" val="4149659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7310311" cy="1303867"/>
          </a:xfrm>
        </p:spPr>
        <p:txBody>
          <a:bodyPr>
            <a:normAutofit fontScale="90000"/>
          </a:bodyPr>
          <a:lstStyle/>
          <a:p>
            <a:r>
              <a:rPr lang="en-US" dirty="0"/>
              <a:t>Negative social consequences of systems...</a:t>
            </a:r>
          </a:p>
        </p:txBody>
      </p:sp>
      <p:sp>
        <p:nvSpPr>
          <p:cNvPr id="3" name="Content Placeholder 2"/>
          <p:cNvSpPr>
            <a:spLocks noGrp="1"/>
          </p:cNvSpPr>
          <p:nvPr>
            <p:ph idx="1"/>
          </p:nvPr>
        </p:nvSpPr>
        <p:spPr>
          <a:xfrm>
            <a:off x="695459" y="2490135"/>
            <a:ext cx="7791718" cy="3444997"/>
          </a:xfrm>
        </p:spPr>
        <p:txBody>
          <a:bodyPr>
            <a:normAutofit lnSpcReduction="10000"/>
          </a:bodyPr>
          <a:lstStyle/>
          <a:p>
            <a:pPr algn="just">
              <a:buFont typeface="Arial" panose="020B0604020202020204" pitchFamily="34" charset="0"/>
              <a:buChar char="•"/>
            </a:pPr>
            <a:r>
              <a:rPr lang="en-US" sz="2800" dirty="0">
                <a:solidFill>
                  <a:srgbClr val="FF0000"/>
                </a:solidFill>
              </a:rPr>
              <a:t>Dependence and vulnerability: </a:t>
            </a:r>
            <a:r>
              <a:rPr lang="en-US" sz="2800" dirty="0"/>
              <a:t>public and private organizations ever </a:t>
            </a:r>
            <a:r>
              <a:rPr lang="en-US" sz="2800" dirty="0">
                <a:solidFill>
                  <a:srgbClr val="FF0000"/>
                </a:solidFill>
              </a:rPr>
              <a:t>more dependent </a:t>
            </a:r>
            <a:r>
              <a:rPr lang="en-US" sz="2800" dirty="0"/>
              <a:t>on computer systems, therefore, they are highly </a:t>
            </a:r>
            <a:r>
              <a:rPr lang="en-US" sz="2800" dirty="0">
                <a:solidFill>
                  <a:srgbClr val="FF0000"/>
                </a:solidFill>
              </a:rPr>
              <a:t>vulnerable</a:t>
            </a:r>
            <a:r>
              <a:rPr lang="en-US" sz="2800" dirty="0"/>
              <a:t> if these </a:t>
            </a:r>
            <a:r>
              <a:rPr lang="en-US" sz="2800" dirty="0">
                <a:solidFill>
                  <a:srgbClr val="FF0000"/>
                </a:solidFill>
              </a:rPr>
              <a:t>systems fail.</a:t>
            </a:r>
          </a:p>
          <a:p>
            <a:pPr algn="just">
              <a:buFont typeface="Arial" panose="020B0604020202020204" pitchFamily="34" charset="0"/>
              <a:buChar char="•"/>
            </a:pPr>
            <a:r>
              <a:rPr lang="en-US" sz="2800" dirty="0">
                <a:solidFill>
                  <a:srgbClr val="FF0000"/>
                </a:solidFill>
              </a:rPr>
              <a:t>Maintaining boundaries: </a:t>
            </a:r>
            <a:r>
              <a:rPr lang="en-US" sz="2800" dirty="0"/>
              <a:t>Technology impact the </a:t>
            </a:r>
            <a:r>
              <a:rPr lang="en-US" sz="2800" dirty="0">
                <a:solidFill>
                  <a:srgbClr val="FF0000"/>
                </a:solidFill>
              </a:rPr>
              <a:t>balance</a:t>
            </a:r>
            <a:r>
              <a:rPr lang="en-US" sz="2800" dirty="0"/>
              <a:t> between Family, Work, and Leisure.</a:t>
            </a:r>
          </a:p>
          <a:p>
            <a:pPr algn="just">
              <a:buFont typeface="Arial" panose="020B0604020202020204" pitchFamily="34" charset="0"/>
              <a:buChar char="•"/>
            </a:pPr>
            <a:r>
              <a:rPr lang="en-US" sz="2800" dirty="0"/>
              <a:t>Equity and access: the digital divide.</a:t>
            </a:r>
          </a:p>
          <a:p>
            <a:pPr algn="just">
              <a:buFont typeface="Arial" panose="020B0604020202020204" pitchFamily="34" charset="0"/>
              <a:buChar char="•"/>
            </a:pPr>
            <a:endParaRPr lang="en-US" sz="2800" dirty="0"/>
          </a:p>
          <a:p>
            <a:pPr algn="just">
              <a:buFont typeface="Arial" panose="020B0604020202020204" pitchFamily="34" charset="0"/>
              <a:buChar char="•"/>
            </a:pPr>
            <a:endParaRPr lang="en-US" sz="2800" dirty="0">
              <a:solidFill>
                <a:srgbClr val="FF0000"/>
              </a:solidFill>
            </a:endParaRPr>
          </a:p>
          <a:p>
            <a:endParaRPr lang="en-US" sz="2800" dirty="0"/>
          </a:p>
        </p:txBody>
      </p:sp>
      <p:sp>
        <p:nvSpPr>
          <p:cNvPr id="4" name="Slide Number Placeholder 3"/>
          <p:cNvSpPr>
            <a:spLocks noGrp="1"/>
          </p:cNvSpPr>
          <p:nvPr>
            <p:ph type="sldNum" sz="quarter" idx="12"/>
          </p:nvPr>
        </p:nvSpPr>
        <p:spPr/>
        <p:txBody>
          <a:bodyPr/>
          <a:lstStyle/>
          <a:p>
            <a:fld id="{B7CBDEE6-AD54-4DB7-8F93-7DE5909EBAB5}" type="slidenum">
              <a:rPr lang="en-US" smtClean="0"/>
              <a:t>33</a:t>
            </a:fld>
            <a:endParaRPr lang="en-US"/>
          </a:p>
        </p:txBody>
      </p:sp>
    </p:spTree>
    <p:extLst>
      <p:ext uri="{BB962C8B-B14F-4D97-AF65-F5344CB8AC3E}">
        <p14:creationId xmlns:p14="http://schemas.microsoft.com/office/powerpoint/2010/main" val="1950423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9110" y="1794677"/>
            <a:ext cx="6798736" cy="3444997"/>
          </a:xfrm>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sz="4000" dirty="0"/>
              <a:t>End of chapter 2</a:t>
            </a:r>
          </a:p>
          <a:p>
            <a:pPr marL="0" indent="0">
              <a:buNone/>
            </a:pPr>
            <a:r>
              <a:rPr lang="en-US" sz="4000" dirty="0"/>
              <a:t>                      thank you!                        </a:t>
            </a:r>
            <a:endParaRPr lang="en-US" dirty="0"/>
          </a:p>
        </p:txBody>
      </p:sp>
      <p:sp>
        <p:nvSpPr>
          <p:cNvPr id="4" name="Slide Number Placeholder 3"/>
          <p:cNvSpPr>
            <a:spLocks noGrp="1"/>
          </p:cNvSpPr>
          <p:nvPr>
            <p:ph type="sldNum" sz="quarter" idx="12"/>
          </p:nvPr>
        </p:nvSpPr>
        <p:spPr/>
        <p:txBody>
          <a:bodyPr/>
          <a:lstStyle/>
          <a:p>
            <a:fld id="{B7CBDEE6-AD54-4DB7-8F93-7DE5909EBAB5}" type="slidenum">
              <a:rPr lang="en-US" smtClean="0"/>
              <a:t>34</a:t>
            </a:fld>
            <a:endParaRPr lang="en-US"/>
          </a:p>
        </p:txBody>
      </p:sp>
    </p:spTree>
    <p:extLst>
      <p:ext uri="{BB962C8B-B14F-4D97-AF65-F5344CB8AC3E}">
        <p14:creationId xmlns:p14="http://schemas.microsoft.com/office/powerpoint/2010/main" val="16510558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369</TotalTime>
  <Words>1917</Words>
  <Application>Microsoft Office PowerPoint</Application>
  <PresentationFormat>On-screen Show (4:3)</PresentationFormat>
  <Paragraphs>180</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Garamond</vt:lpstr>
      <vt:lpstr>Times New Roman</vt:lpstr>
      <vt:lpstr>Wingdings</vt:lpstr>
      <vt:lpstr>Organic</vt:lpstr>
      <vt:lpstr>Chapter Two</vt:lpstr>
      <vt:lpstr>Ethics  </vt:lpstr>
      <vt:lpstr>Moral dimensions of the information age </vt:lpstr>
      <vt:lpstr>Moral dimensions of the information age... </vt:lpstr>
      <vt:lpstr>Moral dimensions of the information age...</vt:lpstr>
      <vt:lpstr>Moral dimensions of the information age...</vt:lpstr>
      <vt:lpstr>Moral dimensions of the information age...</vt:lpstr>
      <vt:lpstr>Moral dimensions of the information age...</vt:lpstr>
      <vt:lpstr>Moral dimensions of the information age...</vt:lpstr>
      <vt:lpstr>Moral dimensions of the information age...</vt:lpstr>
      <vt:lpstr>Moral dimensions of the information age...</vt:lpstr>
      <vt:lpstr>Key technology trends that raise ethical issues </vt:lpstr>
      <vt:lpstr>Key technology trends that raise ethical issues.. </vt:lpstr>
      <vt:lpstr>Key technology trends that raise ethical issues </vt:lpstr>
      <vt:lpstr> Basic concepts for ethical analysis   </vt:lpstr>
      <vt:lpstr> Basic concepts for ethical analysis...   </vt:lpstr>
      <vt:lpstr>Steps of ethical analysis</vt:lpstr>
      <vt:lpstr>Steps of ethical analysis...</vt:lpstr>
      <vt:lpstr>Steps of ethical analysis...</vt:lpstr>
      <vt:lpstr>Steps of ethical analysis...</vt:lpstr>
      <vt:lpstr>Steps of ethical analysis...</vt:lpstr>
      <vt:lpstr>Steps of ethical analysis...</vt:lpstr>
      <vt:lpstr>Internet Challenges to Privacy </vt:lpstr>
      <vt:lpstr>Internet Challenges to Privacy...</vt:lpstr>
      <vt:lpstr>Internet Challenges to Privacy... </vt:lpstr>
      <vt:lpstr>Internet Challenges to Privacy... </vt:lpstr>
      <vt:lpstr>Property Rights</vt:lpstr>
      <vt:lpstr>Property Rights...</vt:lpstr>
      <vt:lpstr>Challenges to Intellectual Property Rights </vt:lpstr>
      <vt:lpstr>Principal sources of poor system performance</vt:lpstr>
      <vt:lpstr>Negative social consequences of systems</vt:lpstr>
      <vt:lpstr>Negative social consequences of systems…</vt:lpstr>
      <vt:lpstr>Negative social consequences of systems...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dc:title>
  <dc:creator>Kalkidan</dc:creator>
  <cp:lastModifiedBy>Kalkidan</cp:lastModifiedBy>
  <cp:revision>49</cp:revision>
  <dcterms:created xsi:type="dcterms:W3CDTF">2024-12-09T10:03:16Z</dcterms:created>
  <dcterms:modified xsi:type="dcterms:W3CDTF">2026-02-25T06:53:49Z</dcterms:modified>
</cp:coreProperties>
</file>